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9fc441a42245da" /><Relationship Type="http://schemas.openxmlformats.org/officeDocument/2006/relationships/extended-properties" Target="/docProps/app.xml" Id="R10ed0d56976b4e3a" /><Relationship Type="http://schemas.openxmlformats.org/officeDocument/2006/relationships/officeDocument" Target="/ppt/presentation.xml" Id="R7912883708bd45fb" /></Relationships>
</file>

<file path=ppt/presentation.xml><?xml version="1.0" encoding="utf-8"?>
<p:presentation xmlns:p="http://schemas.openxmlformats.org/presentationml/2006/main">
  <p:sldMasterIdLst>
    <p:sldMasterId xmlns:r="http://schemas.openxmlformats.org/officeDocument/2006/relationships" id="2147483648" r:id="R972f291019c44c94"/>
  </p:sldMasterIdLst>
  <p:notesMasterIdLst>
    <p:notesMasterId xmlns:r="http://schemas.openxmlformats.org/officeDocument/2006/relationships" r:id="R771928cd56814f9d"/>
  </p:notesMasterIdLst>
  <p:sldIdLst>
    <p:sldId xmlns:r="http://schemas.openxmlformats.org/officeDocument/2006/relationships" id="256" r:id="Rfb704bdef4194349"/>
    <p:sldId xmlns:r="http://schemas.openxmlformats.org/officeDocument/2006/relationships" id="257" r:id="R5e04b1bd69a24b45"/>
    <p:sldId xmlns:r="http://schemas.openxmlformats.org/officeDocument/2006/relationships" id="258" r:id="R069ac4c102b14d54"/>
    <p:sldId xmlns:r="http://schemas.openxmlformats.org/officeDocument/2006/relationships" id="259" r:id="R55f4212b0c45490f"/>
    <p:sldId xmlns:r="http://schemas.openxmlformats.org/officeDocument/2006/relationships" id="260" r:id="Rfcf4d5cf603f4060"/>
    <p:sldId xmlns:r="http://schemas.openxmlformats.org/officeDocument/2006/relationships" id="261" r:id="R091651cf85804220"/>
    <p:sldId xmlns:r="http://schemas.openxmlformats.org/officeDocument/2006/relationships" id="262" r:id="R79206f2e43074c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d6107b4f8f4fa9" /><Relationship Type="http://schemas.openxmlformats.org/officeDocument/2006/relationships/slideMaster" Target="/ppt/slideMasters/slideMaster1.xml" Id="R972f291019c44c94" /><Relationship Type="http://schemas.openxmlformats.org/officeDocument/2006/relationships/notesMaster" Target="/ppt/notesMasters/notesMaster1.xml" Id="R771928cd56814f9d" /><Relationship Type="http://schemas.openxmlformats.org/officeDocument/2006/relationships/presProps" Target="/ppt/presProps.xml" Id="Rf50584c19ff946c6" /><Relationship Type="http://schemas.openxmlformats.org/officeDocument/2006/relationships/tableStyles" Target="/ppt/tableStyles.xml" Id="R7e9c8b0cf2504230" /><Relationship Type="http://schemas.openxmlformats.org/officeDocument/2006/relationships/slide" Target="/ppt/slides/slide1.xml" Id="Rfb704bdef4194349" /><Relationship Type="http://schemas.openxmlformats.org/officeDocument/2006/relationships/slide" Target="/ppt/slides/slide2.xml" Id="R5e04b1bd69a24b45" /><Relationship Type="http://schemas.openxmlformats.org/officeDocument/2006/relationships/slide" Target="/ppt/slides/slide3.xml" Id="R069ac4c102b14d54" /><Relationship Type="http://schemas.openxmlformats.org/officeDocument/2006/relationships/slide" Target="/ppt/slides/slide4.xml" Id="R55f4212b0c45490f" /><Relationship Type="http://schemas.openxmlformats.org/officeDocument/2006/relationships/slide" Target="/ppt/slides/slide5.xml" Id="Rfcf4d5cf603f4060" /><Relationship Type="http://schemas.openxmlformats.org/officeDocument/2006/relationships/slide" Target="/ppt/slides/slide6.xml" Id="R091651cf85804220" /><Relationship Type="http://schemas.openxmlformats.org/officeDocument/2006/relationships/slide" Target="/ppt/slides/slide7.xml" Id="R79206f2e43074c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f46d96989547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eba00cae524c5f" /><Relationship Type="http://schemas.openxmlformats.org/officeDocument/2006/relationships/notesMaster" Target="/ppt/notesMasters/notesMaster1.xml" Id="R5a5de8e1488b4b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b29ca10c11465b" /><Relationship Type="http://schemas.openxmlformats.org/officeDocument/2006/relationships/notesMaster" Target="/ppt/notesMasters/notesMaster1.xml" Id="Rc859771a1e6246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bbb64704eb4a2e" /><Relationship Type="http://schemas.openxmlformats.org/officeDocument/2006/relationships/notesMaster" Target="/ppt/notesMasters/notesMaster1.xml" Id="Ra700045b530f45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d77a0fb36441dc" /><Relationship Type="http://schemas.openxmlformats.org/officeDocument/2006/relationships/notesMaster" Target="/ppt/notesMasters/notesMaster1.xml" Id="Rd3e9a505e9ff4d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22864ce42240f3" /><Relationship Type="http://schemas.openxmlformats.org/officeDocument/2006/relationships/notesMaster" Target="/ppt/notesMasters/notesMaster1.xml" Id="R472a97c6a1f646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c8b473798a438f" /><Relationship Type="http://schemas.openxmlformats.org/officeDocument/2006/relationships/notesMaster" Target="/ppt/notesMasters/notesMaster1.xml" Id="Rf9964419af9d45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5bc87b233b45c3" /><Relationship Type="http://schemas.openxmlformats.org/officeDocument/2006/relationships/notesMaster" Target="/ppt/notesMasters/notesMaster1.xml" Id="R9cc2f70e630640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0:00–0:15. Say: “Before spending another plate, what would you need to check? Second Look helps a researcher inspect a plate assay and plan a repeat when sample identity and position overlap.”</a:t>
            </a:r>
          </a:p>
          <a:p xmlns:a="http://schemas.openxmlformats.org/drawingml/2006/main">
            <a:r>
              <a:t>This is a research prototype. Use app footage for most of the video. Do not claim personal lab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0:15–0:40. In the app, load Confounded sample layout, inspect it and open a measured well. Say: “This example is synthetic. One candidate appears only at the edge. The other appears only in the interior. A difference between them cannot tell us whether the sample, its position, or both contributed.”</a:t>
            </a:r>
          </a:p>
          <a:p xmlns:a="http://schemas.openxmlformats.org/drawingml/2006/main">
            <a:r>
              <a:t>Source: bundled synthetic confounded example seed 11. Counts verified in docs/screenshots/design-coverage.png and STATUS.md. Edge means row A/H or column 1/12. These descriptive counts do not establish an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0:40–1:15. Switch to the app. Choose selected sample IDs and Investigate selected samples by position. The browser live path has not yet completed successfully. Record a successful result only after separately verifying it. Otherwise use the failure narration in the companion script.</a:t>
            </a:r>
          </a:p>
          <a:p xmlns:a="http://schemas.openxmlformats.org/drawingml/2006/main">
            <a:r>
              <a:t>Say: “The optional AI review uses NVIDIA Nemotron Nano through Nebius. It requests limited analyses on materials I select. Code computes the results, and the model selects evidence references and a permitted next step. The researcher still decides what to repeat.”</a:t>
            </a:r>
          </a:p>
          <a:p xmlns:a="http://schemas.openxmlformats.org/drawingml/2006/main">
            <a:r>
              <a:t>Sources: agent_review.py, analysis_tools.py, server.py, docs/live-verification.json. Actual model: nvidia/NVIDIA-Nemotron-3-Nano-30B-A3B. One real two-stage structural success, followed by a local browser format failure. No claim of measured AI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1:15–2:00. Show the app, both candidates selected, measured negative and positive controls, budget 24, seed 11. Design the follow-up. Say: “For these two candidates and two controls, the template allocates sixteen wells. Each material gets two edge and two interior wells. Eight budgeted wells remain unused. This table shows the missing position zone added for both candidates. It checks coverage, without predicting what the experiment will find.”</a:t>
            </a:r>
          </a:p>
          <a:p xmlns:a="http://schemas.openxmlformats.org/drawingml/2006/main">
            <a:r>
              <a:t>Source: actual app screenshot docs/screenshots/design-coverage.png, planner.py and design_coverage.py. Required wells = 4 × 2 samples + 8 controls = 16. Technical repeats do not establish biological replication, statistical power or causality.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2:00–2:30. Return to the app. Review compatibility, export a reviewed CSV and show report/layout identifiers. Add a short note if time permits.</a:t>
            </a:r>
          </a:p>
          <a:p xmlns:a="http://schemas.openxmlformats.org/drawingml/2006/main">
            <a:r>
              <a:t>Say: “Before export, the researcher checks compatibility. The handoff keeps notes and source identifiers with the proposal. The current checks cover calculation and layout integrity. They do not establish biological validity. One live AI review completed, and a later browser run rejected invalid output while keeping the local findings.”</a:t>
            </a:r>
          </a:p>
          <a:p xmlns:a="http://schemas.openxmlformats.org/drawingml/2006/main">
            <a:r>
              <a:t>Sources: docs/evaluation.json, tests/, STATUS.md, docs/live-verification.json. 103 Python checks, 3 Node note-draft checks, 140 synthetic integrity cases. These are development checks, not independent validation or model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2:30–2:45. Closing. Say: “The goal is to make the reason for a repeat easier to inspect. You can try the examples and follow each proposal back to the measurements. The next step is assay-specific researcher review and a measured test of whether the AI adds value.”</a:t>
            </a:r>
          </a:p>
          <a:p xmlns:a="http://schemas.openxmlformats.org/drawingml/2006/main">
            <a:r>
              <a:t>Demo: https://second-look-qz70.onrender.com/</a:t>
            </a:r>
          </a:p>
          <a:p xmlns:a="http://schemas.openxmlformats.org/drawingml/2006/main">
            <a:r>
              <a:t>Code: https://github.com/BluePaper1122/second-look</a:t>
            </a:r>
          </a:p>
          <a:p xmlns:a="http://schemas.openxmlformats.org/drawingml/2006/main">
            <a:r>
              <a:t>The public demo currently has no model key. Do not imply publicly available live AI.</a:t>
            </a:r>
          </a:p>
          <a:p xmlns:a="http://schemas.openxmlformats.org/drawingml/2006/main">
            <a:r>
              <a:t>Presentation structure draws on the complete constrained workflow described in NVIDIA’s 2025 first-place Route Optimization Agent review and the specific human audience of Nomi, the AWS/NVIDIA grand-prize winner. This is an editorial inference, not a causal explanation of winning. Sources: https://developer.nvidia.com/blog/hackathon-winners-bring-agentic-ai-to-life-with-the-nvidia-nemo-agent-toolkit/ and https://nvidia-aws.devpost.com/updates/38660-and-the-winner-is . No winner code, images or claims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Outside the timed video. Known integration evidence as of October 29, 2026 Chicago time. One successful two-stage CLI run does not show useful recommendations or a robust live UI. The failed browser run did not accept a model result. Up to four attempts were conservatively accounted for in that approved session. Public model activation was excluded from approval.</a:t>
            </a:r>
          </a:p>
          <a:p xmlns:a="http://schemas.openxmlformats.org/drawingml/2006/main">
            <a:r>
              <a:t>Source: docs/live-verification.json, STATUS.md at feca98e. No private data or credentials appear in this deck. This is a presentation, not evidence of an uploaded recording or completed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a30ba557c549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122f983a1145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48c014d36a45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da30be0d0f40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8c2d88ab014a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f1d8a2b3294b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403E09-E209-41AF-9A3E-79C39A80C8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DA210E-A191-40F6-9B16-AE16DAF5CD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654645-97F1-47E6-A1BB-A59BF682942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B722D9-31A0-46A1-B70C-065CD3F9B3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68E861-491C-492B-AB56-20CE986A9F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AE8AEE-A966-4080-8725-56F8F71770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AFE980-3639-4602-A785-E5FC7C7337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3F063B-644F-40C3-B42D-718E30F01B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766420-5181-48B4-87AB-B305D8079E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AAC4DA-07EE-4158-B370-FB45888614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021a0e8aab420a" /><Relationship Type="http://schemas.openxmlformats.org/officeDocument/2006/relationships/slideLayout" Target="/ppt/slideLayouts/slideLayout1.xml" Id="R30ecf5f1f2a84dd8" /><Relationship Type="http://schemas.openxmlformats.org/officeDocument/2006/relationships/slideLayout" Target="/ppt/slideLayouts/slideLayout2.xml" Id="R666dde51b5444fc1" /><Relationship Type="http://schemas.openxmlformats.org/officeDocument/2006/relationships/slideLayout" Target="/ppt/slideLayouts/slideLayout3.xml" Id="Rfa1121d3f9c04d0a" /><Relationship Type="http://schemas.openxmlformats.org/officeDocument/2006/relationships/slideLayout" Target="/ppt/slideLayouts/slideLayout4.xml" Id="R596161c55e384df2" /><Relationship Type="http://schemas.openxmlformats.org/officeDocument/2006/relationships/slideLayout" Target="/ppt/slideLayouts/slideLayout5.xml" Id="R1d2ec124af8f4c03" /><Relationship Type="http://schemas.openxmlformats.org/officeDocument/2006/relationships/slideLayout" Target="/ppt/slideLayouts/slideLayout6.xml" Id="R627ba6878e0846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ecf5f1f2a84dd8"/>
    <p:sldLayoutId xmlns:r="http://schemas.openxmlformats.org/officeDocument/2006/relationships" id="2147483650" r:id="R666dde51b5444fc1"/>
    <p:sldLayoutId xmlns:r="http://schemas.openxmlformats.org/officeDocument/2006/relationships" id="2147483651" r:id="Rfa1121d3f9c04d0a"/>
    <p:sldLayoutId xmlns:r="http://schemas.openxmlformats.org/officeDocument/2006/relationships" id="2147483652" r:id="R596161c55e384df2"/>
    <p:sldLayoutId xmlns:r="http://schemas.openxmlformats.org/officeDocument/2006/relationships" id="2147483653" r:id="R1d2ec124af8f4c03"/>
    <p:sldLayoutId xmlns:r="http://schemas.openxmlformats.org/officeDocument/2006/relationships" id="2147483654" r:id="R627ba6878e0846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61e0fdbd8e442c" /><Relationship Type="http://schemas.openxmlformats.org/officeDocument/2006/relationships/image" Target="/ppt/media/image.jpeg" Id="Rd6c4390f03104ee9" /><Relationship Type="http://schemas.openxmlformats.org/officeDocument/2006/relationships/notesSlide" Target="/ppt/notesSlides/notesSlide1.xml" Id="Rac00254707064e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e078710dee442a" /><Relationship Type="http://schemas.openxmlformats.org/officeDocument/2006/relationships/notesSlide" Target="/ppt/notesSlides/notesSlide2.xml" Id="R2cd11f288e9245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1006289e6f4323" /><Relationship Type="http://schemas.openxmlformats.org/officeDocument/2006/relationships/notesSlide" Target="/ppt/notesSlides/notesSlide3.xml" Id="R05a2fe0fb42f43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afe421390e4025" /><Relationship Type="http://schemas.openxmlformats.org/officeDocument/2006/relationships/image" Target="/ppt/media/image2.jpeg" Id="R57b6f23f366a4b11" /><Relationship Type="http://schemas.openxmlformats.org/officeDocument/2006/relationships/notesSlide" Target="/ppt/notesSlides/notesSlide4.xml" Id="Re047078143f747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0cf38f3dd34e6b" /><Relationship Type="http://schemas.openxmlformats.org/officeDocument/2006/relationships/notesSlide" Target="/ppt/notesSlides/notesSlide5.xml" Id="R732630dc745c4c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05cbd94f9c4302" /><Relationship Type="http://schemas.openxmlformats.org/officeDocument/2006/relationships/notesSlide" Target="/ppt/notesSlides/notesSlide6.xml" Id="R7ebc4c23527946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315e171439d45e0" /><Relationship Type="http://schemas.openxmlformats.org/officeDocument/2006/relationships/notesSlide" Target="/ppt/notesSlides/notesSlide7.xml" Id="R4394175f06af4683" /></Relationships>
</file>

<file path=ppt/slides/slide1.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9F2095-6DF0-49A6-B7A0-97B145D0C07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D34"/>
                </a:solidFill>
                <a:latin typeface="Helvetica Neue"/>
                <a:ea typeface="Helvetica Neue"/>
                <a:cs typeface="Helvetica Neue"/>
              </a:defRPr>
            </a:defPPr>
            <a:lvl1pPr>
              <a:defRPr sz="3600" b="1">
                <a:solidFill>
                  <a:srgbClr val="243D34"/>
                </a:solidFill>
                <a:latin typeface="Helvetica Neue"/>
                <a:ea typeface="Helvetica Neue"/>
                <a:cs typeface="Helvetica Neue"/>
              </a:defRPr>
            </a:lvl1pPr>
            <a:lvl2pPr>
              <a:defRPr sz="3600" b="1">
                <a:solidFill>
                  <a:srgbClr val="243D34"/>
                </a:solidFill>
                <a:latin typeface="Helvetica Neue"/>
                <a:ea typeface="Helvetica Neue"/>
                <a:cs typeface="Helvetica Neue"/>
              </a:defRPr>
            </a:lvl2pPr>
            <a:lvl3pPr>
              <a:defRPr sz="3600" b="1">
                <a:solidFill>
                  <a:srgbClr val="243D34"/>
                </a:solidFill>
                <a:latin typeface="Helvetica Neue"/>
                <a:ea typeface="Helvetica Neue"/>
                <a:cs typeface="Helvetica Neue"/>
              </a:defRPr>
            </a:lvl3pPr>
            <a:lvl4pPr>
              <a:defRPr sz="3600" b="1">
                <a:solidFill>
                  <a:srgbClr val="243D34"/>
                </a:solidFill>
                <a:latin typeface="Helvetica Neue"/>
                <a:ea typeface="Helvetica Neue"/>
                <a:cs typeface="Helvetica Neue"/>
              </a:defRPr>
            </a:lvl4pPr>
            <a:lvl5pPr>
              <a:defRPr sz="3600" b="1">
                <a:solidFill>
                  <a:srgbClr val="243D34"/>
                </a:solidFill>
                <a:latin typeface="Helvetica Neue"/>
                <a:ea typeface="Helvetica Neue"/>
                <a:cs typeface="Helvetica Neue"/>
              </a:defRPr>
            </a:lvl5pPr>
            <a:lvl6pPr>
              <a:defRPr sz="3600" b="1">
                <a:solidFill>
                  <a:srgbClr val="243D34"/>
                </a:solidFill>
                <a:latin typeface="Helvetica Neue"/>
                <a:ea typeface="Helvetica Neue"/>
                <a:cs typeface="Helvetica Neue"/>
              </a:defRPr>
            </a:lvl6pPr>
            <a:lvl7pPr>
              <a:defRPr sz="3600" b="1">
                <a:solidFill>
                  <a:srgbClr val="243D34"/>
                </a:solidFill>
                <a:latin typeface="Helvetica Neue"/>
                <a:ea typeface="Helvetica Neue"/>
                <a:cs typeface="Helvetica Neue"/>
              </a:defRPr>
            </a:lvl7pPr>
            <a:lvl8pPr>
              <a:defRPr sz="3600" b="1">
                <a:solidFill>
                  <a:srgbClr val="243D34"/>
                </a:solidFill>
                <a:latin typeface="Helvetica Neue"/>
                <a:ea typeface="Helvetica Neue"/>
                <a:cs typeface="Helvetica Neue"/>
              </a:defRPr>
            </a:lvl8pPr>
            <a:lvl9pPr>
              <a:defRPr sz="3600" b="1">
                <a:solidFill>
                  <a:srgbClr val="243D34"/>
                </a:solidFill>
                <a:latin typeface="Helvetica Neue"/>
                <a:ea typeface="Helvetica Neue"/>
                <a:cs typeface="Helvetica Neue"/>
              </a:defRPr>
            </a:lvl9pPr>
          </a:lstStyle>
          <a:p xmlns:a="http://schemas.openxmlformats.org/drawingml/2006/main">
            <a:pPr>
              <a:defRPr sz="3600" b="1">
                <a:solidFill>
                  <a:srgbClr val="243D34"/>
                </a:solidFill>
                <a:latin typeface="Helvetica Neue"/>
                <a:ea typeface="Helvetica Neue"/>
                <a:cs typeface="Helvetica Neue"/>
              </a:defRPr>
            </a:pPr>
            <a:r>
              <a:rPr sz="3600" b="1">
                <a:solidFill>
                  <a:srgbClr val="243D34"/>
                </a:solidFill>
                <a:latin typeface="Helvetica Neue"/>
                <a:ea typeface="Helvetica Neue"/>
                <a:cs typeface="Helvetica Neue"/>
              </a:rPr>
              <a:t>Second Look</a:t>
            </a:r>
          </a:p>
        </p:txBody>
      </p:sp>
      <p:sp>
        <p:nvSpPr>
          <p:cNvPr id="2" name="">
            <a:extLst xmlns:a="http://schemas.openxmlformats.org/drawingml/2006/main">
              <a:ext uri="{FF2B5EF4-FFF2-40B4-BE49-F238E27FC236}">
                <a16:creationId xmlns:a16="http://schemas.microsoft.com/office/drawing/2014/main" id="{4067EE8F-3FB9-4DF0-A0C4-933821433273}"/>
              </a:ext>
            </a:extLst>
          </p:cNvPr>
          <p:cNvSpPr>
            <a:spLocks xmlns:a="http://schemas.openxmlformats.org/drawingml/2006/main" noGrp="1"/>
          </p:cNvSpPr>
          <p:nvPr/>
        </p:nvSpPr>
        <p:spPr>
          <a:xfrm xmlns:a="http://schemas.openxmlformats.org/drawingml/2006/main">
            <a:off x="609600" y="1762125"/>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243D34"/>
                </a:solidFill>
                <a:latin typeface="Helvetica Neue"/>
                <a:ea typeface="Helvetica Neue"/>
                <a:cs typeface="Helvetica Neue"/>
              </a:defRPr>
            </a:defPPr>
            <a:lvl1pPr>
              <a:defRPr sz="3300" b="0">
                <a:solidFill>
                  <a:srgbClr val="243D34"/>
                </a:solidFill>
                <a:latin typeface="Helvetica Neue"/>
                <a:ea typeface="Helvetica Neue"/>
                <a:cs typeface="Helvetica Neue"/>
              </a:defRPr>
            </a:lvl1pPr>
            <a:lvl2pPr>
              <a:defRPr sz="3300" b="0">
                <a:solidFill>
                  <a:srgbClr val="243D34"/>
                </a:solidFill>
                <a:latin typeface="Helvetica Neue"/>
                <a:ea typeface="Helvetica Neue"/>
                <a:cs typeface="Helvetica Neue"/>
              </a:defRPr>
            </a:lvl2pPr>
            <a:lvl3pPr>
              <a:defRPr sz="3300" b="0">
                <a:solidFill>
                  <a:srgbClr val="243D34"/>
                </a:solidFill>
                <a:latin typeface="Helvetica Neue"/>
                <a:ea typeface="Helvetica Neue"/>
                <a:cs typeface="Helvetica Neue"/>
              </a:defRPr>
            </a:lvl3pPr>
            <a:lvl4pPr>
              <a:defRPr sz="3300" b="0">
                <a:solidFill>
                  <a:srgbClr val="243D34"/>
                </a:solidFill>
                <a:latin typeface="Helvetica Neue"/>
                <a:ea typeface="Helvetica Neue"/>
                <a:cs typeface="Helvetica Neue"/>
              </a:defRPr>
            </a:lvl4pPr>
            <a:lvl5pPr>
              <a:defRPr sz="3300" b="0">
                <a:solidFill>
                  <a:srgbClr val="243D34"/>
                </a:solidFill>
                <a:latin typeface="Helvetica Neue"/>
                <a:ea typeface="Helvetica Neue"/>
                <a:cs typeface="Helvetica Neue"/>
              </a:defRPr>
            </a:lvl5pPr>
            <a:lvl6pPr>
              <a:defRPr sz="3300" b="0">
                <a:solidFill>
                  <a:srgbClr val="243D34"/>
                </a:solidFill>
                <a:latin typeface="Helvetica Neue"/>
                <a:ea typeface="Helvetica Neue"/>
                <a:cs typeface="Helvetica Neue"/>
              </a:defRPr>
            </a:lvl6pPr>
            <a:lvl7pPr>
              <a:defRPr sz="3300" b="0">
                <a:solidFill>
                  <a:srgbClr val="243D34"/>
                </a:solidFill>
                <a:latin typeface="Helvetica Neue"/>
                <a:ea typeface="Helvetica Neue"/>
                <a:cs typeface="Helvetica Neue"/>
              </a:defRPr>
            </a:lvl7pPr>
            <a:lvl8pPr>
              <a:defRPr sz="3300" b="0">
                <a:solidFill>
                  <a:srgbClr val="243D34"/>
                </a:solidFill>
                <a:latin typeface="Helvetica Neue"/>
                <a:ea typeface="Helvetica Neue"/>
                <a:cs typeface="Helvetica Neue"/>
              </a:defRPr>
            </a:lvl8pPr>
            <a:lvl9pPr>
              <a:defRPr sz="3300" b="0">
                <a:solidFill>
                  <a:srgbClr val="243D34"/>
                </a:solidFill>
                <a:latin typeface="Helvetica Neue"/>
                <a:ea typeface="Helvetica Neue"/>
                <a:cs typeface="Helvetica Neue"/>
              </a:defRPr>
            </a:lvl9pPr>
          </a:lstStyle>
          <a:p xmlns:a="http://schemas.openxmlformats.org/drawingml/2006/main">
            <a:pPr>
              <a:defRPr sz="3300" b="0">
                <a:solidFill>
                  <a:srgbClr val="243D34"/>
                </a:solidFill>
                <a:latin typeface="Helvetica Neue"/>
                <a:ea typeface="Helvetica Neue"/>
                <a:cs typeface="Helvetica Neue"/>
              </a:defRPr>
            </a:pPr>
            <a:r>
              <a:rPr sz="3300" b="0">
                <a:solidFill>
                  <a:srgbClr val="243D34"/>
                </a:solidFill>
                <a:latin typeface="Helvetica Neue"/>
                <a:ea typeface="Helvetica Neue"/>
                <a:cs typeface="Helvetica Neue"/>
              </a:rPr>
              <a:t>A clearer reason to repeat an assay</a:t>
            </a:r>
          </a:p>
        </p:txBody>
      </p:sp>
      <p:sp>
        <p:nvSpPr>
          <p:cNvPr id="3" name="">
            <a:extLst xmlns:a="http://schemas.openxmlformats.org/drawingml/2006/main">
              <a:ext uri="{FF2B5EF4-FFF2-40B4-BE49-F238E27FC236}">
                <a16:creationId xmlns:a16="http://schemas.microsoft.com/office/drawing/2014/main" id="{4498CB23-D8E1-4398-974E-153DCF94961D}"/>
              </a:ext>
            </a:extLst>
          </p:cNvPr>
          <p:cNvSpPr>
            <a:spLocks xmlns:a="http://schemas.openxmlformats.org/drawingml/2006/main" noGrp="1"/>
          </p:cNvSpPr>
          <p:nvPr/>
        </p:nvSpPr>
        <p:spPr>
          <a:xfrm xmlns:a="http://schemas.openxmlformats.org/drawingml/2006/main">
            <a:off x="609600" y="4619625"/>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35B"/>
                </a:solidFill>
                <a:latin typeface="Helvetica Neue"/>
                <a:ea typeface="Helvetica Neue"/>
                <a:cs typeface="Helvetica Neue"/>
              </a:defRPr>
            </a:defPPr>
            <a:lvl1pPr>
              <a:defRPr sz="2025" b="0">
                <a:solidFill>
                  <a:srgbClr val="52635B"/>
                </a:solidFill>
                <a:latin typeface="Helvetica Neue"/>
                <a:ea typeface="Helvetica Neue"/>
                <a:cs typeface="Helvetica Neue"/>
              </a:defRPr>
            </a:lvl1pPr>
            <a:lvl2pPr>
              <a:defRPr sz="2025" b="0">
                <a:solidFill>
                  <a:srgbClr val="52635B"/>
                </a:solidFill>
                <a:latin typeface="Helvetica Neue"/>
                <a:ea typeface="Helvetica Neue"/>
                <a:cs typeface="Helvetica Neue"/>
              </a:defRPr>
            </a:lvl2pPr>
            <a:lvl3pPr>
              <a:defRPr sz="2025" b="0">
                <a:solidFill>
                  <a:srgbClr val="52635B"/>
                </a:solidFill>
                <a:latin typeface="Helvetica Neue"/>
                <a:ea typeface="Helvetica Neue"/>
                <a:cs typeface="Helvetica Neue"/>
              </a:defRPr>
            </a:lvl3pPr>
            <a:lvl4pPr>
              <a:defRPr sz="2025" b="0">
                <a:solidFill>
                  <a:srgbClr val="52635B"/>
                </a:solidFill>
                <a:latin typeface="Helvetica Neue"/>
                <a:ea typeface="Helvetica Neue"/>
                <a:cs typeface="Helvetica Neue"/>
              </a:defRPr>
            </a:lvl4pPr>
            <a:lvl5pPr>
              <a:defRPr sz="2025" b="0">
                <a:solidFill>
                  <a:srgbClr val="52635B"/>
                </a:solidFill>
                <a:latin typeface="Helvetica Neue"/>
                <a:ea typeface="Helvetica Neue"/>
                <a:cs typeface="Helvetica Neue"/>
              </a:defRPr>
            </a:lvl5pPr>
            <a:lvl6pPr>
              <a:defRPr sz="2025" b="0">
                <a:solidFill>
                  <a:srgbClr val="52635B"/>
                </a:solidFill>
                <a:latin typeface="Helvetica Neue"/>
                <a:ea typeface="Helvetica Neue"/>
                <a:cs typeface="Helvetica Neue"/>
              </a:defRPr>
            </a:lvl6pPr>
            <a:lvl7pPr>
              <a:defRPr sz="2025" b="0">
                <a:solidFill>
                  <a:srgbClr val="52635B"/>
                </a:solidFill>
                <a:latin typeface="Helvetica Neue"/>
                <a:ea typeface="Helvetica Neue"/>
                <a:cs typeface="Helvetica Neue"/>
              </a:defRPr>
            </a:lvl7pPr>
            <a:lvl8pPr>
              <a:defRPr sz="2025" b="0">
                <a:solidFill>
                  <a:srgbClr val="52635B"/>
                </a:solidFill>
                <a:latin typeface="Helvetica Neue"/>
                <a:ea typeface="Helvetica Neue"/>
                <a:cs typeface="Helvetica Neue"/>
              </a:defRPr>
            </a:lvl8pPr>
            <a:lvl9pPr>
              <a:defRPr sz="2025" b="0">
                <a:solidFill>
                  <a:srgbClr val="52635B"/>
                </a:solidFill>
                <a:latin typeface="Helvetica Neue"/>
                <a:ea typeface="Helvetica Neue"/>
                <a:cs typeface="Helvetica Neue"/>
              </a:defRPr>
            </a:lvl9pPr>
          </a:lstStyle>
          <a:p xmlns:a="http://schemas.openxmlformats.org/drawingml/2006/main">
            <a:pPr>
              <a:defRPr sz="2025" b="0">
                <a:solidFill>
                  <a:srgbClr val="52635B"/>
                </a:solidFill>
                <a:latin typeface="Helvetica Neue"/>
                <a:ea typeface="Helvetica Neue"/>
                <a:cs typeface="Helvetica Neue"/>
              </a:defRPr>
            </a:pPr>
            <a:r>
              <a:rPr sz="2025" b="0">
                <a:solidFill>
                  <a:srgbClr val="52635B"/>
                </a:solidFill>
                <a:latin typeface="Helvetica Neue"/>
                <a:ea typeface="Helvetica Neue"/>
                <a:cs typeface="Helvetica Neue"/>
              </a:rPr>
              <a:t>Research prototype</a:t>
            </a:r>
          </a:p>
          <a:p xmlns:a="http://schemas.openxmlformats.org/drawingml/2006/main">
            <a:pPr>
              <a:defRPr sz="2025" b="0">
                <a:solidFill>
                  <a:srgbClr val="52635B"/>
                </a:solidFill>
                <a:latin typeface="Helvetica Neue"/>
                <a:ea typeface="Helvetica Neue"/>
                <a:cs typeface="Helvetica Neue"/>
              </a:defRPr>
            </a:pPr>
            <a:r>
              <a:rPr sz="2025" b="0">
                <a:solidFill>
                  <a:srgbClr val="52635B"/>
                </a:solidFill>
                <a:latin typeface="Helvetica Neue"/>
                <a:ea typeface="Helvetica Neue"/>
                <a:cs typeface="Helvetica Neue"/>
              </a:rPr>
              <a:t>Synthetic demonstration</a:t>
            </a:r>
          </a:p>
        </p:txBody>
      </p:sp>
      <p:pic>
        <p:nvPicPr>
          <p:cNvPr id="4" name="">
            <a:extLst xmlns:a="http://schemas.openxmlformats.org/drawingml/2006/main">
              <a:ext uri="{FF2B5EF4-FFF2-40B4-BE49-F238E27FC236}">
                <a16:creationId xmlns:a16="http://schemas.microsoft.com/office/drawing/2014/main" id="{1F74444B-48D4-4626-9B2C-83D3B42D0537}"/>
              </a:ext>
            </a:extLst>
          </p:cNvPr>
          <p:cNvPicPr>
            <a:picLocks xmlns:a="http://schemas.openxmlformats.org/drawingml/2006/main" noChangeAspect="1"/>
          </p:cNvPicPr>
          <p:nvPr/>
        </p:nvPicPr>
        <p:blipFill>
          <a:blip xmlns:r="http://schemas.openxmlformats.org/officeDocument/2006/relationships" xmlns:a="http://schemas.openxmlformats.org/drawingml/2006/main" r:embed="Rd6c4390f03104ee9"/>
          <a:stretch xmlns:a="http://schemas.openxmlformats.org/drawingml/2006/main"/>
        </p:blipFill>
        <p:spPr>
          <a:xfrm xmlns:a="http://schemas.openxmlformats.org/drawingml/2006/main">
            <a:off x="5810250" y="1922450"/>
            <a:ext cx="5810250" cy="3270275"/>
          </a:xfrm>
          <a:prstGeom xmlns:a="http://schemas.openxmlformats.org/drawingml/2006/main" prst="rect">
            <a:avLst/>
          </a:prstGeom>
        </p:spPr>
      </p:pic>
    </p:spTree>
    <p:extLst>
      <p:ext uri="{BB962C8B-B14F-4D97-AF65-F5344CB8AC3E}">
        <p14:creationId xmlns:p14="http://schemas.microsoft.com/office/powerpoint/2010/main" val="1892306378"/>
      </p:ext>
    </p:extLst>
  </p:cSld>
</p:sld>
</file>

<file path=ppt/slides/slide2.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6B47BD-330C-48FB-B468-08AB77EA172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D34"/>
                </a:solidFill>
                <a:latin typeface="Helvetica Neue"/>
                <a:ea typeface="Helvetica Neue"/>
                <a:cs typeface="Helvetica Neue"/>
              </a:defRPr>
            </a:defPPr>
            <a:lvl1pPr>
              <a:defRPr sz="3600" b="1">
                <a:solidFill>
                  <a:srgbClr val="243D34"/>
                </a:solidFill>
                <a:latin typeface="Helvetica Neue"/>
                <a:ea typeface="Helvetica Neue"/>
                <a:cs typeface="Helvetica Neue"/>
              </a:defRPr>
            </a:lvl1pPr>
            <a:lvl2pPr>
              <a:defRPr sz="3600" b="1">
                <a:solidFill>
                  <a:srgbClr val="243D34"/>
                </a:solidFill>
                <a:latin typeface="Helvetica Neue"/>
                <a:ea typeface="Helvetica Neue"/>
                <a:cs typeface="Helvetica Neue"/>
              </a:defRPr>
            </a:lvl2pPr>
            <a:lvl3pPr>
              <a:defRPr sz="3600" b="1">
                <a:solidFill>
                  <a:srgbClr val="243D34"/>
                </a:solidFill>
                <a:latin typeface="Helvetica Neue"/>
                <a:ea typeface="Helvetica Neue"/>
                <a:cs typeface="Helvetica Neue"/>
              </a:defRPr>
            </a:lvl3pPr>
            <a:lvl4pPr>
              <a:defRPr sz="3600" b="1">
                <a:solidFill>
                  <a:srgbClr val="243D34"/>
                </a:solidFill>
                <a:latin typeface="Helvetica Neue"/>
                <a:ea typeface="Helvetica Neue"/>
                <a:cs typeface="Helvetica Neue"/>
              </a:defRPr>
            </a:lvl4pPr>
            <a:lvl5pPr>
              <a:defRPr sz="3600" b="1">
                <a:solidFill>
                  <a:srgbClr val="243D34"/>
                </a:solidFill>
                <a:latin typeface="Helvetica Neue"/>
                <a:ea typeface="Helvetica Neue"/>
                <a:cs typeface="Helvetica Neue"/>
              </a:defRPr>
            </a:lvl5pPr>
            <a:lvl6pPr>
              <a:defRPr sz="3600" b="1">
                <a:solidFill>
                  <a:srgbClr val="243D34"/>
                </a:solidFill>
                <a:latin typeface="Helvetica Neue"/>
                <a:ea typeface="Helvetica Neue"/>
                <a:cs typeface="Helvetica Neue"/>
              </a:defRPr>
            </a:lvl6pPr>
            <a:lvl7pPr>
              <a:defRPr sz="3600" b="1">
                <a:solidFill>
                  <a:srgbClr val="243D34"/>
                </a:solidFill>
                <a:latin typeface="Helvetica Neue"/>
                <a:ea typeface="Helvetica Neue"/>
                <a:cs typeface="Helvetica Neue"/>
              </a:defRPr>
            </a:lvl7pPr>
            <a:lvl8pPr>
              <a:defRPr sz="3600" b="1">
                <a:solidFill>
                  <a:srgbClr val="243D34"/>
                </a:solidFill>
                <a:latin typeface="Helvetica Neue"/>
                <a:ea typeface="Helvetica Neue"/>
                <a:cs typeface="Helvetica Neue"/>
              </a:defRPr>
            </a:lvl8pPr>
            <a:lvl9pPr>
              <a:defRPr sz="3600" b="1">
                <a:solidFill>
                  <a:srgbClr val="243D34"/>
                </a:solidFill>
                <a:latin typeface="Helvetica Neue"/>
                <a:ea typeface="Helvetica Neue"/>
                <a:cs typeface="Helvetica Neue"/>
              </a:defRPr>
            </a:lvl9pPr>
          </a:lstStyle>
          <a:p xmlns:a="http://schemas.openxmlformats.org/drawingml/2006/main">
            <a:pPr>
              <a:defRPr sz="3600" b="1">
                <a:solidFill>
                  <a:srgbClr val="243D34"/>
                </a:solidFill>
                <a:latin typeface="Helvetica Neue"/>
                <a:ea typeface="Helvetica Neue"/>
                <a:cs typeface="Helvetica Neue"/>
              </a:defRPr>
            </a:pPr>
            <a:r>
              <a:rPr sz="3600" b="1">
                <a:solidFill>
                  <a:srgbClr val="243D34"/>
                </a:solidFill>
                <a:latin typeface="Helvetica Neue"/>
                <a:ea typeface="Helvetica Neue"/>
                <a:cs typeface="Helvetica Neue"/>
              </a:rPr>
              <a:t>The position problem</a:t>
            </a:r>
          </a:p>
        </p:txBody>
      </p:sp>
      <p:sp>
        <p:nvSpPr>
          <p:cNvPr id="2" name="">
            <a:extLst xmlns:a="http://schemas.openxmlformats.org/drawingml/2006/main">
              <a:ext uri="{FF2B5EF4-FFF2-40B4-BE49-F238E27FC236}">
                <a16:creationId xmlns:a16="http://schemas.microsoft.com/office/drawing/2014/main" id="{844CBE44-25FC-413B-8AF4-66A827165DFB}"/>
              </a:ext>
            </a:extLst>
          </p:cNvPr>
          <p:cNvSpPr>
            <a:spLocks xmlns:a="http://schemas.openxmlformats.org/drawingml/2006/main" noGrp="1"/>
          </p:cNvSpPr>
          <p:nvPr/>
        </p:nvSpPr>
        <p:spPr>
          <a:xfrm xmlns:a="http://schemas.openxmlformats.org/drawingml/2006/main">
            <a:off x="609600" y="15716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35B"/>
                </a:solidFill>
                <a:latin typeface="Helvetica Neue"/>
                <a:ea typeface="Helvetica Neue"/>
                <a:cs typeface="Helvetica Neue"/>
              </a:defRPr>
            </a:defPPr>
            <a:lvl1pPr>
              <a:defRPr sz="2175" b="0">
                <a:solidFill>
                  <a:srgbClr val="52635B"/>
                </a:solidFill>
                <a:latin typeface="Helvetica Neue"/>
                <a:ea typeface="Helvetica Neue"/>
                <a:cs typeface="Helvetica Neue"/>
              </a:defRPr>
            </a:lvl1pPr>
            <a:lvl2pPr>
              <a:defRPr sz="2175" b="0">
                <a:solidFill>
                  <a:srgbClr val="52635B"/>
                </a:solidFill>
                <a:latin typeface="Helvetica Neue"/>
                <a:ea typeface="Helvetica Neue"/>
                <a:cs typeface="Helvetica Neue"/>
              </a:defRPr>
            </a:lvl2pPr>
            <a:lvl3pPr>
              <a:defRPr sz="2175" b="0">
                <a:solidFill>
                  <a:srgbClr val="52635B"/>
                </a:solidFill>
                <a:latin typeface="Helvetica Neue"/>
                <a:ea typeface="Helvetica Neue"/>
                <a:cs typeface="Helvetica Neue"/>
              </a:defRPr>
            </a:lvl3pPr>
            <a:lvl4pPr>
              <a:defRPr sz="2175" b="0">
                <a:solidFill>
                  <a:srgbClr val="52635B"/>
                </a:solidFill>
                <a:latin typeface="Helvetica Neue"/>
                <a:ea typeface="Helvetica Neue"/>
                <a:cs typeface="Helvetica Neue"/>
              </a:defRPr>
            </a:lvl4pPr>
            <a:lvl5pPr>
              <a:defRPr sz="2175" b="0">
                <a:solidFill>
                  <a:srgbClr val="52635B"/>
                </a:solidFill>
                <a:latin typeface="Helvetica Neue"/>
                <a:ea typeface="Helvetica Neue"/>
                <a:cs typeface="Helvetica Neue"/>
              </a:defRPr>
            </a:lvl5pPr>
            <a:lvl6pPr>
              <a:defRPr sz="2175" b="0">
                <a:solidFill>
                  <a:srgbClr val="52635B"/>
                </a:solidFill>
                <a:latin typeface="Helvetica Neue"/>
                <a:ea typeface="Helvetica Neue"/>
                <a:cs typeface="Helvetica Neue"/>
              </a:defRPr>
            </a:lvl6pPr>
            <a:lvl7pPr>
              <a:defRPr sz="2175" b="0">
                <a:solidFill>
                  <a:srgbClr val="52635B"/>
                </a:solidFill>
                <a:latin typeface="Helvetica Neue"/>
                <a:ea typeface="Helvetica Neue"/>
                <a:cs typeface="Helvetica Neue"/>
              </a:defRPr>
            </a:lvl7pPr>
            <a:lvl8pPr>
              <a:defRPr sz="2175" b="0">
                <a:solidFill>
                  <a:srgbClr val="52635B"/>
                </a:solidFill>
                <a:latin typeface="Helvetica Neue"/>
                <a:ea typeface="Helvetica Neue"/>
                <a:cs typeface="Helvetica Neue"/>
              </a:defRPr>
            </a:lvl8pPr>
            <a:lvl9pPr>
              <a:defRPr sz="2175" b="0">
                <a:solidFill>
                  <a:srgbClr val="52635B"/>
                </a:solidFill>
                <a:latin typeface="Helvetica Neue"/>
                <a:ea typeface="Helvetica Neue"/>
                <a:cs typeface="Helvetica Neue"/>
              </a:defRPr>
            </a:lvl9pPr>
          </a:lstStyle>
          <a:p xmlns:a="http://schemas.openxmlformats.org/drawingml/2006/main">
            <a:pPr>
              <a:defRPr sz="2175" b="0">
                <a:solidFill>
                  <a:srgbClr val="52635B"/>
                </a:solidFill>
                <a:latin typeface="Helvetica Neue"/>
                <a:ea typeface="Helvetica Neue"/>
                <a:cs typeface="Helvetica Neue"/>
              </a:defRPr>
            </a:pPr>
            <a:r>
              <a:rPr sz="2175" b="0">
                <a:solidFill>
                  <a:srgbClr val="52635B"/>
                </a:solidFill>
                <a:latin typeface="Helvetica Neue"/>
                <a:ea typeface="Helvetica Neue"/>
                <a:cs typeface="Helvetica Neue"/>
              </a:rPr>
              <a:t>Observed wells in the synthetic example</a:t>
            </a:r>
          </a:p>
        </p:txBody>
      </p:sp>
      <p:graphicFrame>
        <p:nvGraphicFramePr>
          <p:cNvPr id="3" name="">
            <a:extLst xmlns:a="http://schemas.openxmlformats.org/drawingml/2006/main">
              <a:ext uri="{FF2B5EF4-FFF2-40B4-BE49-F238E27FC236}">
                <a16:creationId xmlns:a16="http://schemas.microsoft.com/office/drawing/2014/main" id="{422495B2-1552-4FBC-875A-6DD2FE47B7FA}"/>
              </a:ext>
            </a:extLst>
          </p:cNvPr>
          <p:cNvGraphicFramePr/>
          <p:nvPr/>
        </p:nvGraphicFramePr>
        <p:xfrm>
          <a:off xmlns:a="http://schemas.openxmlformats.org/drawingml/2006/main" x="609600" y="2381250"/>
          <a:ext xmlns:a="http://schemas.openxmlformats.org/drawingml/2006/main" cx="10972800" cy="2000250"/>
        </p:xfrm>
        <a:graphic xmlns:a="http://schemas.openxmlformats.org/drawingml/2006/main">
          <a:graphicData uri="http://schemas.openxmlformats.org/drawingml/2006/table">
            <a:tbl>
              <a:tblPr/>
              <a:tblGrid>
                <a:gridCol w="5486400"/>
                <a:gridCol w="2743200"/>
                <a:gridCol w="2743200"/>
              </a:tblGrid>
              <a:tr h="666750">
                <a:tc>
                  <a:txBody>
                    <a:bodyPr/>
                    <a:lstStyle/>
                    <a:p>
                      <a:r>
                        <a:rPr sz="2250" b="1">
                          <a:solidFill>
                            <a:srgbClr val="FFFFFF"/>
                          </a:solidFill>
                          <a:latin typeface="Helvetica Neue"/>
                          <a:ea typeface="Helvetica Neue"/>
                          <a:cs typeface="Helvetica Neue"/>
                        </a:rPr>
                        <a:t>Sample</a:t>
                      </a:r>
                    </a:p>
                  </a:txBody>
                  <a:tcPr marL="91440" marR="91440" marT="45720" marB="45720">
                    <a:lnL w="9525">
                      <a:solidFill>
                        <a:srgbClr val="D1D7CD"/>
                      </a:solidFill>
                      <a:prstDash val="solid"/>
                    </a:lnL>
                    <a:lnR w="9525">
                      <a:solidFill>
                        <a:srgbClr val="D1D7CD"/>
                      </a:solidFill>
                      <a:prstDash val="solid"/>
                    </a:lnR>
                    <a:lnT w="9525">
                      <a:solidFill>
                        <a:srgbClr val="D1D7CD"/>
                      </a:solidFill>
                      <a:prstDash val="solid"/>
                    </a:lnT>
                    <a:lnB w="9525">
                      <a:solidFill>
                        <a:srgbClr val="D1D7CD"/>
                      </a:solidFill>
                      <a:prstDash val="solid"/>
                    </a:lnB>
                    <a:solidFill>
                      <a:srgbClr val="345F4D"/>
                    </a:solidFill>
                  </a:tcPr>
                </a:tc>
                <a:tc>
                  <a:txBody>
                    <a:bodyPr/>
                    <a:lstStyle/>
                    <a:p>
                      <a:r>
                        <a:rPr sz="2250" b="1">
                          <a:solidFill>
                            <a:srgbClr val="FFFFFF"/>
                          </a:solidFill>
                          <a:latin typeface="Helvetica Neue"/>
                          <a:ea typeface="Helvetica Neue"/>
                          <a:cs typeface="Helvetica Neue"/>
                        </a:rPr>
                        <a:t>Edge wells</a:t>
                      </a:r>
                    </a:p>
                  </a:txBody>
                  <a:tcPr marL="91440" marR="91440" marT="45720" marB="45720">
                    <a:lnR w="9525">
                      <a:solidFill>
                        <a:srgbClr val="D1D7CD"/>
                      </a:solidFill>
                      <a:prstDash val="solid"/>
                    </a:lnR>
                    <a:lnT w="9525">
                      <a:solidFill>
                        <a:srgbClr val="D1D7CD"/>
                      </a:solidFill>
                      <a:prstDash val="solid"/>
                    </a:lnT>
                    <a:lnB w="9525">
                      <a:solidFill>
                        <a:srgbClr val="D1D7CD"/>
                      </a:solidFill>
                      <a:prstDash val="solid"/>
                    </a:lnB>
                    <a:solidFill>
                      <a:srgbClr val="345F4D"/>
                    </a:solidFill>
                  </a:tcPr>
                </a:tc>
                <a:tc>
                  <a:txBody>
                    <a:bodyPr/>
                    <a:lstStyle/>
                    <a:p>
                      <a:r>
                        <a:rPr sz="2250" b="1">
                          <a:solidFill>
                            <a:srgbClr val="FFFFFF"/>
                          </a:solidFill>
                          <a:latin typeface="Helvetica Neue"/>
                          <a:ea typeface="Helvetica Neue"/>
                          <a:cs typeface="Helvetica Neue"/>
                        </a:rPr>
                        <a:t>Interior wells</a:t>
                      </a:r>
                    </a:p>
                  </a:txBody>
                  <a:tcPr marL="91440" marR="91440" marT="45720" marB="45720">
                    <a:lnR w="9525">
                      <a:solidFill>
                        <a:srgbClr val="D1D7CD"/>
                      </a:solidFill>
                      <a:prstDash val="solid"/>
                    </a:lnR>
                    <a:lnT w="9525">
                      <a:solidFill>
                        <a:srgbClr val="D1D7CD"/>
                      </a:solidFill>
                      <a:prstDash val="solid"/>
                    </a:lnT>
                    <a:lnB w="9525">
                      <a:solidFill>
                        <a:srgbClr val="D1D7CD"/>
                      </a:solidFill>
                      <a:prstDash val="solid"/>
                    </a:lnB>
                    <a:solidFill>
                      <a:srgbClr val="345F4D"/>
                    </a:solidFill>
                  </a:tcPr>
                </a:tc>
              </a:tr>
              <a:tr h="666750">
                <a:tc>
                  <a:txBody>
                    <a:bodyPr/>
                    <a:lstStyle/>
                    <a:p>
                      <a:r>
                        <a:rPr sz="2250" b="0">
                          <a:solidFill>
                            <a:srgbClr val="243D34"/>
                          </a:solidFill>
                          <a:latin typeface="Helvetica Neue"/>
                          <a:ea typeface="Helvetica Neue"/>
                          <a:cs typeface="Helvetica Neue"/>
                        </a:rPr>
                        <a:t>candidate_edge</a:t>
                      </a:r>
                    </a:p>
                  </a:txBody>
                  <a:tcPr marL="91440" marR="91440" marT="45720" marB="45720">
                    <a:lnL w="9525">
                      <a:solidFill>
                        <a:srgbClr val="D1D7CD"/>
                      </a:solidFill>
                      <a:prstDash val="solid"/>
                    </a:lnL>
                    <a:lnR w="9525">
                      <a:solidFill>
                        <a:srgbClr val="D1D7CD"/>
                      </a:solidFill>
                      <a:prstDash val="solid"/>
                    </a:lnR>
                    <a:lnB w="9525">
                      <a:solidFill>
                        <a:srgbClr val="D1D7CD"/>
                      </a:solidFill>
                      <a:prstDash val="solid"/>
                    </a:lnB>
                    <a:solidFill>
                      <a:srgbClr val="FFFFFF"/>
                    </a:solidFill>
                  </a:tcPr>
                </a:tc>
                <a:tc>
                  <a:txBody>
                    <a:bodyPr/>
                    <a:lstStyle/>
                    <a:p>
                      <a:r>
                        <a:rPr sz="2250" b="0">
                          <a:solidFill>
                            <a:srgbClr val="243D34"/>
                          </a:solidFill>
                          <a:latin typeface="Helvetica Neue"/>
                          <a:ea typeface="Helvetica Neue"/>
                          <a:cs typeface="Helvetica Neue"/>
                        </a:rPr>
                        <a:t>28</a:t>
                      </a:r>
                    </a:p>
                  </a:txBody>
                  <a:tcPr marL="91440" marR="91440" marT="45720" marB="45720">
                    <a:lnR w="9525">
                      <a:solidFill>
                        <a:srgbClr val="D1D7CD"/>
                      </a:solidFill>
                      <a:prstDash val="solid"/>
                    </a:lnR>
                    <a:lnB w="9525">
                      <a:solidFill>
                        <a:srgbClr val="D1D7CD"/>
                      </a:solidFill>
                      <a:prstDash val="solid"/>
                    </a:lnB>
                    <a:solidFill>
                      <a:srgbClr val="FFFFFF"/>
                    </a:solidFill>
                  </a:tcPr>
                </a:tc>
                <a:tc>
                  <a:txBody>
                    <a:bodyPr/>
                    <a:lstStyle/>
                    <a:p>
                      <a:r>
                        <a:rPr sz="2250" b="0">
                          <a:solidFill>
                            <a:srgbClr val="243D34"/>
                          </a:solidFill>
                          <a:latin typeface="Helvetica Neue"/>
                          <a:ea typeface="Helvetica Neue"/>
                          <a:cs typeface="Helvetica Neue"/>
                        </a:rPr>
                        <a:t>0</a:t>
                      </a:r>
                    </a:p>
                  </a:txBody>
                  <a:tcPr marL="91440" marR="91440" marT="45720" marB="45720">
                    <a:lnR w="9525">
                      <a:solidFill>
                        <a:srgbClr val="D1D7CD"/>
                      </a:solidFill>
                      <a:prstDash val="solid"/>
                    </a:lnR>
                    <a:lnB w="9525">
                      <a:solidFill>
                        <a:srgbClr val="D1D7CD"/>
                      </a:solidFill>
                      <a:prstDash val="solid"/>
                    </a:lnB>
                    <a:solidFill>
                      <a:srgbClr val="FFFFFF"/>
                    </a:solidFill>
                  </a:tcPr>
                </a:tc>
              </a:tr>
              <a:tr h="666750">
                <a:tc>
                  <a:txBody>
                    <a:bodyPr/>
                    <a:lstStyle/>
                    <a:p>
                      <a:r>
                        <a:rPr sz="2250" b="0">
                          <a:solidFill>
                            <a:srgbClr val="243D34"/>
                          </a:solidFill>
                          <a:latin typeface="Helvetica Neue"/>
                          <a:ea typeface="Helvetica Neue"/>
                          <a:cs typeface="Helvetica Neue"/>
                        </a:rPr>
                        <a:t>candidate_interior</a:t>
                      </a:r>
                    </a:p>
                  </a:txBody>
                  <a:tcPr marL="91440" marR="91440" marT="45720" marB="45720">
                    <a:lnL w="9525">
                      <a:solidFill>
                        <a:srgbClr val="D1D7CD"/>
                      </a:solidFill>
                      <a:prstDash val="solid"/>
                    </a:lnL>
                    <a:lnR w="9525">
                      <a:solidFill>
                        <a:srgbClr val="D1D7CD"/>
                      </a:solidFill>
                      <a:prstDash val="solid"/>
                    </a:lnR>
                    <a:lnB w="9525">
                      <a:solidFill>
                        <a:srgbClr val="D1D7CD"/>
                      </a:solidFill>
                      <a:prstDash val="solid"/>
                    </a:lnB>
                    <a:solidFill>
                      <a:srgbClr val="FFFFFF"/>
                    </a:solidFill>
                  </a:tcPr>
                </a:tc>
                <a:tc>
                  <a:txBody>
                    <a:bodyPr/>
                    <a:lstStyle/>
                    <a:p>
                      <a:r>
                        <a:rPr sz="2250" b="0">
                          <a:solidFill>
                            <a:srgbClr val="243D34"/>
                          </a:solidFill>
                          <a:latin typeface="Helvetica Neue"/>
                          <a:ea typeface="Helvetica Neue"/>
                          <a:cs typeface="Helvetica Neue"/>
                        </a:rPr>
                        <a:t>0</a:t>
                      </a:r>
                    </a:p>
                  </a:txBody>
                  <a:tcPr marL="91440" marR="91440" marT="45720" marB="45720">
                    <a:lnR w="9525">
                      <a:solidFill>
                        <a:srgbClr val="D1D7CD"/>
                      </a:solidFill>
                      <a:prstDash val="solid"/>
                    </a:lnR>
                    <a:lnB w="9525">
                      <a:solidFill>
                        <a:srgbClr val="D1D7CD"/>
                      </a:solidFill>
                      <a:prstDash val="solid"/>
                    </a:lnB>
                    <a:solidFill>
                      <a:srgbClr val="FFFFFF"/>
                    </a:solidFill>
                  </a:tcPr>
                </a:tc>
                <a:tc>
                  <a:txBody>
                    <a:bodyPr/>
                    <a:lstStyle/>
                    <a:p>
                      <a:r>
                        <a:rPr sz="2250" b="0">
                          <a:solidFill>
                            <a:srgbClr val="243D34"/>
                          </a:solidFill>
                          <a:latin typeface="Helvetica Neue"/>
                          <a:ea typeface="Helvetica Neue"/>
                          <a:cs typeface="Helvetica Neue"/>
                        </a:rPr>
                        <a:t>44</a:t>
                      </a:r>
                    </a:p>
                  </a:txBody>
                  <a:tcPr marL="91440" marR="91440" marT="45720" marB="45720">
                    <a:lnR w="9525">
                      <a:solidFill>
                        <a:srgbClr val="D1D7CD"/>
                      </a:solidFill>
                      <a:prstDash val="solid"/>
                    </a:lnR>
                    <a:lnB w="9525">
                      <a:solidFill>
                        <a:srgbClr val="D1D7C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A3E18A2-0821-467D-B179-199B2D2F36EF}"/>
              </a:ext>
            </a:extLst>
          </p:cNvPr>
          <p:cNvSpPr>
            <a:spLocks xmlns:a="http://schemas.openxmlformats.org/drawingml/2006/main" noGrp="1"/>
          </p:cNvSpPr>
          <p:nvPr/>
        </p:nvSpPr>
        <p:spPr>
          <a:xfrm xmlns:a="http://schemas.openxmlformats.org/drawingml/2006/main">
            <a:off x="609600" y="50006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43D34"/>
                </a:solidFill>
                <a:latin typeface="Helvetica Neue"/>
                <a:ea typeface="Helvetica Neue"/>
                <a:cs typeface="Helvetica Neue"/>
              </a:defRPr>
            </a:defPPr>
            <a:lvl1pPr>
              <a:defRPr sz="2700" b="1">
                <a:solidFill>
                  <a:srgbClr val="243D34"/>
                </a:solidFill>
                <a:latin typeface="Helvetica Neue"/>
                <a:ea typeface="Helvetica Neue"/>
                <a:cs typeface="Helvetica Neue"/>
              </a:defRPr>
            </a:lvl1pPr>
            <a:lvl2pPr>
              <a:defRPr sz="2700" b="1">
                <a:solidFill>
                  <a:srgbClr val="243D34"/>
                </a:solidFill>
                <a:latin typeface="Helvetica Neue"/>
                <a:ea typeface="Helvetica Neue"/>
                <a:cs typeface="Helvetica Neue"/>
              </a:defRPr>
            </a:lvl2pPr>
            <a:lvl3pPr>
              <a:defRPr sz="2700" b="1">
                <a:solidFill>
                  <a:srgbClr val="243D34"/>
                </a:solidFill>
                <a:latin typeface="Helvetica Neue"/>
                <a:ea typeface="Helvetica Neue"/>
                <a:cs typeface="Helvetica Neue"/>
              </a:defRPr>
            </a:lvl3pPr>
            <a:lvl4pPr>
              <a:defRPr sz="2700" b="1">
                <a:solidFill>
                  <a:srgbClr val="243D34"/>
                </a:solidFill>
                <a:latin typeface="Helvetica Neue"/>
                <a:ea typeface="Helvetica Neue"/>
                <a:cs typeface="Helvetica Neue"/>
              </a:defRPr>
            </a:lvl4pPr>
            <a:lvl5pPr>
              <a:defRPr sz="2700" b="1">
                <a:solidFill>
                  <a:srgbClr val="243D34"/>
                </a:solidFill>
                <a:latin typeface="Helvetica Neue"/>
                <a:ea typeface="Helvetica Neue"/>
                <a:cs typeface="Helvetica Neue"/>
              </a:defRPr>
            </a:lvl5pPr>
            <a:lvl6pPr>
              <a:defRPr sz="2700" b="1">
                <a:solidFill>
                  <a:srgbClr val="243D34"/>
                </a:solidFill>
                <a:latin typeface="Helvetica Neue"/>
                <a:ea typeface="Helvetica Neue"/>
                <a:cs typeface="Helvetica Neue"/>
              </a:defRPr>
            </a:lvl6pPr>
            <a:lvl7pPr>
              <a:defRPr sz="2700" b="1">
                <a:solidFill>
                  <a:srgbClr val="243D34"/>
                </a:solidFill>
                <a:latin typeface="Helvetica Neue"/>
                <a:ea typeface="Helvetica Neue"/>
                <a:cs typeface="Helvetica Neue"/>
              </a:defRPr>
            </a:lvl7pPr>
            <a:lvl8pPr>
              <a:defRPr sz="2700" b="1">
                <a:solidFill>
                  <a:srgbClr val="243D34"/>
                </a:solidFill>
                <a:latin typeface="Helvetica Neue"/>
                <a:ea typeface="Helvetica Neue"/>
                <a:cs typeface="Helvetica Neue"/>
              </a:defRPr>
            </a:lvl8pPr>
            <a:lvl9pPr>
              <a:defRPr sz="2700" b="1">
                <a:solidFill>
                  <a:srgbClr val="243D34"/>
                </a:solidFill>
                <a:latin typeface="Helvetica Neue"/>
                <a:ea typeface="Helvetica Neue"/>
                <a:cs typeface="Helvetica Neue"/>
              </a:defRPr>
            </a:lvl9pPr>
          </a:lstStyle>
          <a:p xmlns:a="http://schemas.openxmlformats.org/drawingml/2006/main">
            <a:pPr>
              <a:defRPr sz="2700" b="1">
                <a:solidFill>
                  <a:srgbClr val="243D34"/>
                </a:solidFill>
                <a:latin typeface="Helvetica Neue"/>
                <a:ea typeface="Helvetica Neue"/>
                <a:cs typeface="Helvetica Neue"/>
              </a:defRPr>
            </a:pPr>
            <a:r>
              <a:rPr sz="2700" b="1">
                <a:solidFill>
                  <a:srgbClr val="243D34"/>
                </a:solidFill>
                <a:latin typeface="Helvetica Neue"/>
                <a:ea typeface="Helvetica Neue"/>
                <a:cs typeface="Helvetica Neue"/>
              </a:rPr>
              <a:t>Sample identity and position overlap.</a:t>
            </a:r>
          </a:p>
        </p:txBody>
      </p:sp>
      <p:sp>
        <p:nvSpPr>
          <p:cNvPr id="5" name="">
            <a:extLst xmlns:a="http://schemas.openxmlformats.org/drawingml/2006/main">
              <a:ext uri="{FF2B5EF4-FFF2-40B4-BE49-F238E27FC236}">
                <a16:creationId xmlns:a16="http://schemas.microsoft.com/office/drawing/2014/main" id="{2F9D848A-B9FA-45F3-946D-341BE11083F9}"/>
              </a:ext>
            </a:extLst>
          </p:cNvPr>
          <p:cNvSpPr>
            <a:spLocks xmlns:a="http://schemas.openxmlformats.org/drawingml/2006/main" noGrp="1"/>
          </p:cNvSpPr>
          <p:nvPr/>
        </p:nvSpPr>
        <p:spPr>
          <a:xfrm xmlns:a="http://schemas.openxmlformats.org/drawingml/2006/main">
            <a:off x="609600" y="5743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35B"/>
                </a:solidFill>
                <a:latin typeface="Helvetica Neue"/>
                <a:ea typeface="Helvetica Neue"/>
                <a:cs typeface="Helvetica Neue"/>
              </a:defRPr>
            </a:defPPr>
            <a:lvl1pPr>
              <a:defRPr sz="2100" b="0">
                <a:solidFill>
                  <a:srgbClr val="52635B"/>
                </a:solidFill>
                <a:latin typeface="Helvetica Neue"/>
                <a:ea typeface="Helvetica Neue"/>
                <a:cs typeface="Helvetica Neue"/>
              </a:defRPr>
            </a:lvl1pPr>
            <a:lvl2pPr>
              <a:defRPr sz="2100" b="0">
                <a:solidFill>
                  <a:srgbClr val="52635B"/>
                </a:solidFill>
                <a:latin typeface="Helvetica Neue"/>
                <a:ea typeface="Helvetica Neue"/>
                <a:cs typeface="Helvetica Neue"/>
              </a:defRPr>
            </a:lvl2pPr>
            <a:lvl3pPr>
              <a:defRPr sz="2100" b="0">
                <a:solidFill>
                  <a:srgbClr val="52635B"/>
                </a:solidFill>
                <a:latin typeface="Helvetica Neue"/>
                <a:ea typeface="Helvetica Neue"/>
                <a:cs typeface="Helvetica Neue"/>
              </a:defRPr>
            </a:lvl3pPr>
            <a:lvl4pPr>
              <a:defRPr sz="2100" b="0">
                <a:solidFill>
                  <a:srgbClr val="52635B"/>
                </a:solidFill>
                <a:latin typeface="Helvetica Neue"/>
                <a:ea typeface="Helvetica Neue"/>
                <a:cs typeface="Helvetica Neue"/>
              </a:defRPr>
            </a:lvl4pPr>
            <a:lvl5pPr>
              <a:defRPr sz="2100" b="0">
                <a:solidFill>
                  <a:srgbClr val="52635B"/>
                </a:solidFill>
                <a:latin typeface="Helvetica Neue"/>
                <a:ea typeface="Helvetica Neue"/>
                <a:cs typeface="Helvetica Neue"/>
              </a:defRPr>
            </a:lvl5pPr>
            <a:lvl6pPr>
              <a:defRPr sz="2100" b="0">
                <a:solidFill>
                  <a:srgbClr val="52635B"/>
                </a:solidFill>
                <a:latin typeface="Helvetica Neue"/>
                <a:ea typeface="Helvetica Neue"/>
                <a:cs typeface="Helvetica Neue"/>
              </a:defRPr>
            </a:lvl6pPr>
            <a:lvl7pPr>
              <a:defRPr sz="2100" b="0">
                <a:solidFill>
                  <a:srgbClr val="52635B"/>
                </a:solidFill>
                <a:latin typeface="Helvetica Neue"/>
                <a:ea typeface="Helvetica Neue"/>
                <a:cs typeface="Helvetica Neue"/>
              </a:defRPr>
            </a:lvl7pPr>
            <a:lvl8pPr>
              <a:defRPr sz="2100" b="0">
                <a:solidFill>
                  <a:srgbClr val="52635B"/>
                </a:solidFill>
                <a:latin typeface="Helvetica Neue"/>
                <a:ea typeface="Helvetica Neue"/>
                <a:cs typeface="Helvetica Neue"/>
              </a:defRPr>
            </a:lvl8pPr>
            <a:lvl9pPr>
              <a:defRPr sz="2100" b="0">
                <a:solidFill>
                  <a:srgbClr val="52635B"/>
                </a:solidFill>
                <a:latin typeface="Helvetica Neue"/>
                <a:ea typeface="Helvetica Neue"/>
                <a:cs typeface="Helvetica Neue"/>
              </a:defRPr>
            </a:lvl9pPr>
          </a:lstStyle>
          <a:p xmlns:a="http://schemas.openxmlformats.org/drawingml/2006/main">
            <a:pPr>
              <a:defRPr sz="2100" b="0">
                <a:solidFill>
                  <a:srgbClr val="52635B"/>
                </a:solidFill>
                <a:latin typeface="Helvetica Neue"/>
                <a:ea typeface="Helvetica Neue"/>
                <a:cs typeface="Helvetica Neue"/>
              </a:defRPr>
            </a:pPr>
            <a:r>
              <a:rPr sz="2100" b="0">
                <a:solidFill>
                  <a:srgbClr val="52635B"/>
                </a:solidFill>
                <a:latin typeface="Helvetica Neue"/>
                <a:ea typeface="Helvetica Neue"/>
                <a:cs typeface="Helvetica Neue"/>
              </a:rPr>
              <a:t>The app keeps that uncertainty visible.</a:t>
            </a:r>
          </a:p>
        </p:txBody>
      </p:sp>
    </p:spTree>
    <p:extLst>
      <p:ext uri="{BB962C8B-B14F-4D97-AF65-F5344CB8AC3E}">
        <p14:creationId xmlns:p14="http://schemas.microsoft.com/office/powerpoint/2010/main" val="1760881522"/>
      </p:ext>
    </p:extLst>
  </p:cSld>
</p:sld>
</file>

<file path=ppt/slides/slide3.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357EB8-FDE5-4216-99D1-2D4D72828335}"/>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D34"/>
                </a:solidFill>
                <a:latin typeface="Helvetica Neue"/>
                <a:ea typeface="Helvetica Neue"/>
                <a:cs typeface="Helvetica Neue"/>
              </a:defRPr>
            </a:defPPr>
            <a:lvl1pPr>
              <a:defRPr sz="3600" b="1">
                <a:solidFill>
                  <a:srgbClr val="243D34"/>
                </a:solidFill>
                <a:latin typeface="Helvetica Neue"/>
                <a:ea typeface="Helvetica Neue"/>
                <a:cs typeface="Helvetica Neue"/>
              </a:defRPr>
            </a:lvl1pPr>
            <a:lvl2pPr>
              <a:defRPr sz="3600" b="1">
                <a:solidFill>
                  <a:srgbClr val="243D34"/>
                </a:solidFill>
                <a:latin typeface="Helvetica Neue"/>
                <a:ea typeface="Helvetica Neue"/>
                <a:cs typeface="Helvetica Neue"/>
              </a:defRPr>
            </a:lvl2pPr>
            <a:lvl3pPr>
              <a:defRPr sz="3600" b="1">
                <a:solidFill>
                  <a:srgbClr val="243D34"/>
                </a:solidFill>
                <a:latin typeface="Helvetica Neue"/>
                <a:ea typeface="Helvetica Neue"/>
                <a:cs typeface="Helvetica Neue"/>
              </a:defRPr>
            </a:lvl3pPr>
            <a:lvl4pPr>
              <a:defRPr sz="3600" b="1">
                <a:solidFill>
                  <a:srgbClr val="243D34"/>
                </a:solidFill>
                <a:latin typeface="Helvetica Neue"/>
                <a:ea typeface="Helvetica Neue"/>
                <a:cs typeface="Helvetica Neue"/>
              </a:defRPr>
            </a:lvl4pPr>
            <a:lvl5pPr>
              <a:defRPr sz="3600" b="1">
                <a:solidFill>
                  <a:srgbClr val="243D34"/>
                </a:solidFill>
                <a:latin typeface="Helvetica Neue"/>
                <a:ea typeface="Helvetica Neue"/>
                <a:cs typeface="Helvetica Neue"/>
              </a:defRPr>
            </a:lvl5pPr>
            <a:lvl6pPr>
              <a:defRPr sz="3600" b="1">
                <a:solidFill>
                  <a:srgbClr val="243D34"/>
                </a:solidFill>
                <a:latin typeface="Helvetica Neue"/>
                <a:ea typeface="Helvetica Neue"/>
                <a:cs typeface="Helvetica Neue"/>
              </a:defRPr>
            </a:lvl6pPr>
            <a:lvl7pPr>
              <a:defRPr sz="3600" b="1">
                <a:solidFill>
                  <a:srgbClr val="243D34"/>
                </a:solidFill>
                <a:latin typeface="Helvetica Neue"/>
                <a:ea typeface="Helvetica Neue"/>
                <a:cs typeface="Helvetica Neue"/>
              </a:defRPr>
            </a:lvl7pPr>
            <a:lvl8pPr>
              <a:defRPr sz="3600" b="1">
                <a:solidFill>
                  <a:srgbClr val="243D34"/>
                </a:solidFill>
                <a:latin typeface="Helvetica Neue"/>
                <a:ea typeface="Helvetica Neue"/>
                <a:cs typeface="Helvetica Neue"/>
              </a:defRPr>
            </a:lvl8pPr>
            <a:lvl9pPr>
              <a:defRPr sz="3600" b="1">
                <a:solidFill>
                  <a:srgbClr val="243D34"/>
                </a:solidFill>
                <a:latin typeface="Helvetica Neue"/>
                <a:ea typeface="Helvetica Neue"/>
                <a:cs typeface="Helvetica Neue"/>
              </a:defRPr>
            </a:lvl9pPr>
          </a:lstStyle>
          <a:p xmlns:a="http://schemas.openxmlformats.org/drawingml/2006/main">
            <a:pPr>
              <a:defRPr sz="3600" b="1">
                <a:solidFill>
                  <a:srgbClr val="243D34"/>
                </a:solidFill>
                <a:latin typeface="Helvetica Neue"/>
                <a:ea typeface="Helvetica Neue"/>
                <a:cs typeface="Helvetica Neue"/>
              </a:defRPr>
            </a:pPr>
            <a:r>
              <a:rPr sz="3600" b="1">
                <a:solidFill>
                  <a:srgbClr val="243D34"/>
                </a:solidFill>
                <a:latin typeface="Helvetica Neue"/>
                <a:ea typeface="Helvetica Neue"/>
                <a:cs typeface="Helvetica Neue"/>
              </a:rPr>
              <a:t>Nemotron’s role</a:t>
            </a:r>
          </a:p>
        </p:txBody>
      </p:sp>
      <p:sp>
        <p:nvSpPr>
          <p:cNvPr id="2" name="">
            <a:extLst xmlns:a="http://schemas.openxmlformats.org/drawingml/2006/main">
              <a:ext uri="{FF2B5EF4-FFF2-40B4-BE49-F238E27FC236}">
                <a16:creationId xmlns:a16="http://schemas.microsoft.com/office/drawing/2014/main" id="{E4F1FF99-80CC-423A-A701-3CFF754DE4C7}"/>
              </a:ext>
            </a:extLst>
          </p:cNvPr>
          <p:cNvSpPr>
            <a:spLocks xmlns:a="http://schemas.openxmlformats.org/drawingml/2006/main" noGrp="1"/>
          </p:cNvSpPr>
          <p:nvPr/>
        </p:nvSpPr>
        <p:spPr>
          <a:xfrm xmlns:a="http://schemas.openxmlformats.org/drawingml/2006/main">
            <a:off x="609600" y="16954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43D34"/>
                </a:solidFill>
                <a:latin typeface="Helvetica Neue"/>
                <a:ea typeface="Helvetica Neue"/>
                <a:cs typeface="Helvetica Neue"/>
              </a:defRPr>
            </a:defPPr>
            <a:lvl1pPr>
              <a:defRPr sz="2475" b="1">
                <a:solidFill>
                  <a:srgbClr val="243D34"/>
                </a:solidFill>
                <a:latin typeface="Helvetica Neue"/>
                <a:ea typeface="Helvetica Neue"/>
                <a:cs typeface="Helvetica Neue"/>
              </a:defRPr>
            </a:lvl1pPr>
            <a:lvl2pPr>
              <a:defRPr sz="2475" b="1">
                <a:solidFill>
                  <a:srgbClr val="243D34"/>
                </a:solidFill>
                <a:latin typeface="Helvetica Neue"/>
                <a:ea typeface="Helvetica Neue"/>
                <a:cs typeface="Helvetica Neue"/>
              </a:defRPr>
            </a:lvl2pPr>
            <a:lvl3pPr>
              <a:defRPr sz="2475" b="1">
                <a:solidFill>
                  <a:srgbClr val="243D34"/>
                </a:solidFill>
                <a:latin typeface="Helvetica Neue"/>
                <a:ea typeface="Helvetica Neue"/>
                <a:cs typeface="Helvetica Neue"/>
              </a:defRPr>
            </a:lvl3pPr>
            <a:lvl4pPr>
              <a:defRPr sz="2475" b="1">
                <a:solidFill>
                  <a:srgbClr val="243D34"/>
                </a:solidFill>
                <a:latin typeface="Helvetica Neue"/>
                <a:ea typeface="Helvetica Neue"/>
                <a:cs typeface="Helvetica Neue"/>
              </a:defRPr>
            </a:lvl4pPr>
            <a:lvl5pPr>
              <a:defRPr sz="2475" b="1">
                <a:solidFill>
                  <a:srgbClr val="243D34"/>
                </a:solidFill>
                <a:latin typeface="Helvetica Neue"/>
                <a:ea typeface="Helvetica Neue"/>
                <a:cs typeface="Helvetica Neue"/>
              </a:defRPr>
            </a:lvl5pPr>
            <a:lvl6pPr>
              <a:defRPr sz="2475" b="1">
                <a:solidFill>
                  <a:srgbClr val="243D34"/>
                </a:solidFill>
                <a:latin typeface="Helvetica Neue"/>
                <a:ea typeface="Helvetica Neue"/>
                <a:cs typeface="Helvetica Neue"/>
              </a:defRPr>
            </a:lvl6pPr>
            <a:lvl7pPr>
              <a:defRPr sz="2475" b="1">
                <a:solidFill>
                  <a:srgbClr val="243D34"/>
                </a:solidFill>
                <a:latin typeface="Helvetica Neue"/>
                <a:ea typeface="Helvetica Neue"/>
                <a:cs typeface="Helvetica Neue"/>
              </a:defRPr>
            </a:lvl7pPr>
            <a:lvl8pPr>
              <a:defRPr sz="2475" b="1">
                <a:solidFill>
                  <a:srgbClr val="243D34"/>
                </a:solidFill>
                <a:latin typeface="Helvetica Neue"/>
                <a:ea typeface="Helvetica Neue"/>
                <a:cs typeface="Helvetica Neue"/>
              </a:defRPr>
            </a:lvl8pPr>
            <a:lvl9pPr>
              <a:defRPr sz="2475" b="1">
                <a:solidFill>
                  <a:srgbClr val="243D34"/>
                </a:solidFill>
                <a:latin typeface="Helvetica Neue"/>
                <a:ea typeface="Helvetica Neue"/>
                <a:cs typeface="Helvetica Neue"/>
              </a:defRPr>
            </a:lvl9pPr>
          </a:lstStyle>
          <a:p xmlns:a="http://schemas.openxmlformats.org/drawingml/2006/main">
            <a:pPr>
              <a:defRPr sz="2475" b="1">
                <a:solidFill>
                  <a:srgbClr val="243D34"/>
                </a:solidFill>
                <a:latin typeface="Helvetica Neue"/>
                <a:ea typeface="Helvetica Neue"/>
                <a:cs typeface="Helvetica Neue"/>
              </a:defRPr>
            </a:pPr>
            <a:r>
              <a:rPr sz="2475" b="1">
                <a:solidFill>
                  <a:srgbClr val="243D34"/>
                </a:solidFill>
                <a:latin typeface="Helvetica Neue"/>
                <a:ea typeface="Helvetica Neue"/>
                <a:cs typeface="Helvetica Neue"/>
              </a:rPr>
              <a:t>1   Researcher chooses the question and materials</a:t>
            </a:r>
          </a:p>
        </p:txBody>
      </p:sp>
      <p:sp>
        <p:nvSpPr>
          <p:cNvPr id="3" name="">
            <a:extLst xmlns:a="http://schemas.openxmlformats.org/drawingml/2006/main">
              <a:ext uri="{FF2B5EF4-FFF2-40B4-BE49-F238E27FC236}">
                <a16:creationId xmlns:a16="http://schemas.microsoft.com/office/drawing/2014/main" id="{49D087F8-EEBE-4DB3-9F5F-8A9968EF5497}"/>
              </a:ext>
            </a:extLst>
          </p:cNvPr>
          <p:cNvSpPr>
            <a:spLocks xmlns:a="http://schemas.openxmlformats.org/drawingml/2006/main" noGrp="1"/>
          </p:cNvSpPr>
          <p:nvPr/>
        </p:nvSpPr>
        <p:spPr>
          <a:xfrm xmlns:a="http://schemas.openxmlformats.org/drawingml/2006/main">
            <a:off x="609600" y="26860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43D34"/>
                </a:solidFill>
                <a:latin typeface="Helvetica Neue"/>
                <a:ea typeface="Helvetica Neue"/>
                <a:cs typeface="Helvetica Neue"/>
              </a:defRPr>
            </a:defPPr>
            <a:lvl1pPr>
              <a:defRPr sz="2475" b="1">
                <a:solidFill>
                  <a:srgbClr val="243D34"/>
                </a:solidFill>
                <a:latin typeface="Helvetica Neue"/>
                <a:ea typeface="Helvetica Neue"/>
                <a:cs typeface="Helvetica Neue"/>
              </a:defRPr>
            </a:lvl1pPr>
            <a:lvl2pPr>
              <a:defRPr sz="2475" b="1">
                <a:solidFill>
                  <a:srgbClr val="243D34"/>
                </a:solidFill>
                <a:latin typeface="Helvetica Neue"/>
                <a:ea typeface="Helvetica Neue"/>
                <a:cs typeface="Helvetica Neue"/>
              </a:defRPr>
            </a:lvl2pPr>
            <a:lvl3pPr>
              <a:defRPr sz="2475" b="1">
                <a:solidFill>
                  <a:srgbClr val="243D34"/>
                </a:solidFill>
                <a:latin typeface="Helvetica Neue"/>
                <a:ea typeface="Helvetica Neue"/>
                <a:cs typeface="Helvetica Neue"/>
              </a:defRPr>
            </a:lvl3pPr>
            <a:lvl4pPr>
              <a:defRPr sz="2475" b="1">
                <a:solidFill>
                  <a:srgbClr val="243D34"/>
                </a:solidFill>
                <a:latin typeface="Helvetica Neue"/>
                <a:ea typeface="Helvetica Neue"/>
                <a:cs typeface="Helvetica Neue"/>
              </a:defRPr>
            </a:lvl4pPr>
            <a:lvl5pPr>
              <a:defRPr sz="2475" b="1">
                <a:solidFill>
                  <a:srgbClr val="243D34"/>
                </a:solidFill>
                <a:latin typeface="Helvetica Neue"/>
                <a:ea typeface="Helvetica Neue"/>
                <a:cs typeface="Helvetica Neue"/>
              </a:defRPr>
            </a:lvl5pPr>
            <a:lvl6pPr>
              <a:defRPr sz="2475" b="1">
                <a:solidFill>
                  <a:srgbClr val="243D34"/>
                </a:solidFill>
                <a:latin typeface="Helvetica Neue"/>
                <a:ea typeface="Helvetica Neue"/>
                <a:cs typeface="Helvetica Neue"/>
              </a:defRPr>
            </a:lvl6pPr>
            <a:lvl7pPr>
              <a:defRPr sz="2475" b="1">
                <a:solidFill>
                  <a:srgbClr val="243D34"/>
                </a:solidFill>
                <a:latin typeface="Helvetica Neue"/>
                <a:ea typeface="Helvetica Neue"/>
                <a:cs typeface="Helvetica Neue"/>
              </a:defRPr>
            </a:lvl7pPr>
            <a:lvl8pPr>
              <a:defRPr sz="2475" b="1">
                <a:solidFill>
                  <a:srgbClr val="243D34"/>
                </a:solidFill>
                <a:latin typeface="Helvetica Neue"/>
                <a:ea typeface="Helvetica Neue"/>
                <a:cs typeface="Helvetica Neue"/>
              </a:defRPr>
            </a:lvl8pPr>
            <a:lvl9pPr>
              <a:defRPr sz="2475" b="1">
                <a:solidFill>
                  <a:srgbClr val="243D34"/>
                </a:solidFill>
                <a:latin typeface="Helvetica Neue"/>
                <a:ea typeface="Helvetica Neue"/>
                <a:cs typeface="Helvetica Neue"/>
              </a:defRPr>
            </a:lvl9pPr>
          </a:lstStyle>
          <a:p xmlns:a="http://schemas.openxmlformats.org/drawingml/2006/main">
            <a:pPr>
              <a:defRPr sz="2475" b="1">
                <a:solidFill>
                  <a:srgbClr val="243D34"/>
                </a:solidFill>
                <a:latin typeface="Helvetica Neue"/>
                <a:ea typeface="Helvetica Neue"/>
                <a:cs typeface="Helvetica Neue"/>
              </a:defRPr>
            </a:pPr>
            <a:r>
              <a:rPr sz="2475" b="1">
                <a:solidFill>
                  <a:srgbClr val="243D34"/>
                </a:solidFill>
                <a:latin typeface="Helvetica Neue"/>
                <a:ea typeface="Helvetica Neue"/>
                <a:cs typeface="Helvetica Neue"/>
              </a:rPr>
              <a:t>2   Model requests limited analyses</a:t>
            </a:r>
          </a:p>
        </p:txBody>
      </p:sp>
      <p:sp>
        <p:nvSpPr>
          <p:cNvPr id="4" name="">
            <a:extLst xmlns:a="http://schemas.openxmlformats.org/drawingml/2006/main">
              <a:ext uri="{FF2B5EF4-FFF2-40B4-BE49-F238E27FC236}">
                <a16:creationId xmlns:a16="http://schemas.microsoft.com/office/drawing/2014/main" id="{CD3E6D80-D8E8-433F-B967-B24D258D38E7}"/>
              </a:ext>
            </a:extLst>
          </p:cNvPr>
          <p:cNvSpPr>
            <a:spLocks xmlns:a="http://schemas.openxmlformats.org/drawingml/2006/main" noGrp="1"/>
          </p:cNvSpPr>
          <p:nvPr/>
        </p:nvSpPr>
        <p:spPr>
          <a:xfrm xmlns:a="http://schemas.openxmlformats.org/drawingml/2006/main">
            <a:off x="609600" y="36385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43D34"/>
                </a:solidFill>
                <a:latin typeface="Helvetica Neue"/>
                <a:ea typeface="Helvetica Neue"/>
                <a:cs typeface="Helvetica Neue"/>
              </a:defRPr>
            </a:defPPr>
            <a:lvl1pPr>
              <a:defRPr sz="2475" b="1">
                <a:solidFill>
                  <a:srgbClr val="243D34"/>
                </a:solidFill>
                <a:latin typeface="Helvetica Neue"/>
                <a:ea typeface="Helvetica Neue"/>
                <a:cs typeface="Helvetica Neue"/>
              </a:defRPr>
            </a:lvl1pPr>
            <a:lvl2pPr>
              <a:defRPr sz="2475" b="1">
                <a:solidFill>
                  <a:srgbClr val="243D34"/>
                </a:solidFill>
                <a:latin typeface="Helvetica Neue"/>
                <a:ea typeface="Helvetica Neue"/>
                <a:cs typeface="Helvetica Neue"/>
              </a:defRPr>
            </a:lvl2pPr>
            <a:lvl3pPr>
              <a:defRPr sz="2475" b="1">
                <a:solidFill>
                  <a:srgbClr val="243D34"/>
                </a:solidFill>
                <a:latin typeface="Helvetica Neue"/>
                <a:ea typeface="Helvetica Neue"/>
                <a:cs typeface="Helvetica Neue"/>
              </a:defRPr>
            </a:lvl3pPr>
            <a:lvl4pPr>
              <a:defRPr sz="2475" b="1">
                <a:solidFill>
                  <a:srgbClr val="243D34"/>
                </a:solidFill>
                <a:latin typeface="Helvetica Neue"/>
                <a:ea typeface="Helvetica Neue"/>
                <a:cs typeface="Helvetica Neue"/>
              </a:defRPr>
            </a:lvl4pPr>
            <a:lvl5pPr>
              <a:defRPr sz="2475" b="1">
                <a:solidFill>
                  <a:srgbClr val="243D34"/>
                </a:solidFill>
                <a:latin typeface="Helvetica Neue"/>
                <a:ea typeface="Helvetica Neue"/>
                <a:cs typeface="Helvetica Neue"/>
              </a:defRPr>
            </a:lvl5pPr>
            <a:lvl6pPr>
              <a:defRPr sz="2475" b="1">
                <a:solidFill>
                  <a:srgbClr val="243D34"/>
                </a:solidFill>
                <a:latin typeface="Helvetica Neue"/>
                <a:ea typeface="Helvetica Neue"/>
                <a:cs typeface="Helvetica Neue"/>
              </a:defRPr>
            </a:lvl6pPr>
            <a:lvl7pPr>
              <a:defRPr sz="2475" b="1">
                <a:solidFill>
                  <a:srgbClr val="243D34"/>
                </a:solidFill>
                <a:latin typeface="Helvetica Neue"/>
                <a:ea typeface="Helvetica Neue"/>
                <a:cs typeface="Helvetica Neue"/>
              </a:defRPr>
            </a:lvl7pPr>
            <a:lvl8pPr>
              <a:defRPr sz="2475" b="1">
                <a:solidFill>
                  <a:srgbClr val="243D34"/>
                </a:solidFill>
                <a:latin typeface="Helvetica Neue"/>
                <a:ea typeface="Helvetica Neue"/>
                <a:cs typeface="Helvetica Neue"/>
              </a:defRPr>
            </a:lvl8pPr>
            <a:lvl9pPr>
              <a:defRPr sz="2475" b="1">
                <a:solidFill>
                  <a:srgbClr val="243D34"/>
                </a:solidFill>
                <a:latin typeface="Helvetica Neue"/>
                <a:ea typeface="Helvetica Neue"/>
                <a:cs typeface="Helvetica Neue"/>
              </a:defRPr>
            </a:lvl9pPr>
          </a:lstStyle>
          <a:p xmlns:a="http://schemas.openxmlformats.org/drawingml/2006/main">
            <a:pPr>
              <a:defRPr sz="2475" b="1">
                <a:solidFill>
                  <a:srgbClr val="243D34"/>
                </a:solidFill>
                <a:latin typeface="Helvetica Neue"/>
                <a:ea typeface="Helvetica Neue"/>
                <a:cs typeface="Helvetica Neue"/>
              </a:defRPr>
            </a:pPr>
            <a:r>
              <a:rPr sz="2475" b="1">
                <a:solidFill>
                  <a:srgbClr val="243D34"/>
                </a:solidFill>
                <a:latin typeface="Helvetica Neue"/>
                <a:ea typeface="Helvetica Neue"/>
                <a:cs typeface="Helvetica Neue"/>
              </a:rPr>
              <a:t>3   Code computes evidence and validates references</a:t>
            </a:r>
          </a:p>
        </p:txBody>
      </p:sp>
      <p:sp>
        <p:nvSpPr>
          <p:cNvPr id="5" name="">
            <a:extLst xmlns:a="http://schemas.openxmlformats.org/drawingml/2006/main">
              <a:ext uri="{FF2B5EF4-FFF2-40B4-BE49-F238E27FC236}">
                <a16:creationId xmlns:a16="http://schemas.microsoft.com/office/drawing/2014/main" id="{CFAC67C2-106B-4DD9-9088-DAF12B516535}"/>
              </a:ext>
            </a:extLst>
          </p:cNvPr>
          <p:cNvSpPr>
            <a:spLocks xmlns:a="http://schemas.openxmlformats.org/drawingml/2006/main" noGrp="1"/>
          </p:cNvSpPr>
          <p:nvPr/>
        </p:nvSpPr>
        <p:spPr>
          <a:xfrm xmlns:a="http://schemas.openxmlformats.org/drawingml/2006/main">
            <a:off x="609600" y="47244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43D34"/>
                </a:solidFill>
                <a:latin typeface="Helvetica Neue"/>
                <a:ea typeface="Helvetica Neue"/>
                <a:cs typeface="Helvetica Neue"/>
              </a:defRPr>
            </a:defPPr>
            <a:lvl1pPr>
              <a:defRPr sz="2475" b="1">
                <a:solidFill>
                  <a:srgbClr val="243D34"/>
                </a:solidFill>
                <a:latin typeface="Helvetica Neue"/>
                <a:ea typeface="Helvetica Neue"/>
                <a:cs typeface="Helvetica Neue"/>
              </a:defRPr>
            </a:lvl1pPr>
            <a:lvl2pPr>
              <a:defRPr sz="2475" b="1">
                <a:solidFill>
                  <a:srgbClr val="243D34"/>
                </a:solidFill>
                <a:latin typeface="Helvetica Neue"/>
                <a:ea typeface="Helvetica Neue"/>
                <a:cs typeface="Helvetica Neue"/>
              </a:defRPr>
            </a:lvl2pPr>
            <a:lvl3pPr>
              <a:defRPr sz="2475" b="1">
                <a:solidFill>
                  <a:srgbClr val="243D34"/>
                </a:solidFill>
                <a:latin typeface="Helvetica Neue"/>
                <a:ea typeface="Helvetica Neue"/>
                <a:cs typeface="Helvetica Neue"/>
              </a:defRPr>
            </a:lvl3pPr>
            <a:lvl4pPr>
              <a:defRPr sz="2475" b="1">
                <a:solidFill>
                  <a:srgbClr val="243D34"/>
                </a:solidFill>
                <a:latin typeface="Helvetica Neue"/>
                <a:ea typeface="Helvetica Neue"/>
                <a:cs typeface="Helvetica Neue"/>
              </a:defRPr>
            </a:lvl4pPr>
            <a:lvl5pPr>
              <a:defRPr sz="2475" b="1">
                <a:solidFill>
                  <a:srgbClr val="243D34"/>
                </a:solidFill>
                <a:latin typeface="Helvetica Neue"/>
                <a:ea typeface="Helvetica Neue"/>
                <a:cs typeface="Helvetica Neue"/>
              </a:defRPr>
            </a:lvl5pPr>
            <a:lvl6pPr>
              <a:defRPr sz="2475" b="1">
                <a:solidFill>
                  <a:srgbClr val="243D34"/>
                </a:solidFill>
                <a:latin typeface="Helvetica Neue"/>
                <a:ea typeface="Helvetica Neue"/>
                <a:cs typeface="Helvetica Neue"/>
              </a:defRPr>
            </a:lvl6pPr>
            <a:lvl7pPr>
              <a:defRPr sz="2475" b="1">
                <a:solidFill>
                  <a:srgbClr val="243D34"/>
                </a:solidFill>
                <a:latin typeface="Helvetica Neue"/>
                <a:ea typeface="Helvetica Neue"/>
                <a:cs typeface="Helvetica Neue"/>
              </a:defRPr>
            </a:lvl7pPr>
            <a:lvl8pPr>
              <a:defRPr sz="2475" b="1">
                <a:solidFill>
                  <a:srgbClr val="243D34"/>
                </a:solidFill>
                <a:latin typeface="Helvetica Neue"/>
                <a:ea typeface="Helvetica Neue"/>
                <a:cs typeface="Helvetica Neue"/>
              </a:defRPr>
            </a:lvl8pPr>
            <a:lvl9pPr>
              <a:defRPr sz="2475" b="1">
                <a:solidFill>
                  <a:srgbClr val="243D34"/>
                </a:solidFill>
                <a:latin typeface="Helvetica Neue"/>
                <a:ea typeface="Helvetica Neue"/>
                <a:cs typeface="Helvetica Neue"/>
              </a:defRPr>
            </a:lvl9pPr>
          </a:lstStyle>
          <a:p xmlns:a="http://schemas.openxmlformats.org/drawingml/2006/main">
            <a:pPr>
              <a:defRPr sz="2475" b="1">
                <a:solidFill>
                  <a:srgbClr val="243D34"/>
                </a:solidFill>
                <a:latin typeface="Helvetica Neue"/>
                <a:ea typeface="Helvetica Neue"/>
                <a:cs typeface="Helvetica Neue"/>
              </a:defRPr>
            </a:pPr>
            <a:r>
              <a:rPr sz="2475" b="1">
                <a:solidFill>
                  <a:srgbClr val="243D34"/>
                </a:solidFill>
                <a:latin typeface="Helvetica Neue"/>
                <a:ea typeface="Helvetica Neue"/>
                <a:cs typeface="Helvetica Neue"/>
              </a:rPr>
              <a:t>4   Researcher reviews the suggested next step</a:t>
            </a:r>
          </a:p>
        </p:txBody>
      </p:sp>
      <p:sp>
        <p:nvSpPr>
          <p:cNvPr id="6" name="">
            <a:extLst xmlns:a="http://schemas.openxmlformats.org/drawingml/2006/main">
              <a:ext uri="{FF2B5EF4-FFF2-40B4-BE49-F238E27FC236}">
                <a16:creationId xmlns:a16="http://schemas.microsoft.com/office/drawing/2014/main" id="{F63E8ACB-F0F9-400A-BABE-D30CA9E9A616}"/>
              </a:ext>
            </a:extLst>
          </p:cNvPr>
          <p:cNvSpPr>
            <a:spLocks xmlns:a="http://schemas.openxmlformats.org/drawingml/2006/main" noGrp="1"/>
          </p:cNvSpPr>
          <p:nvPr/>
        </p:nvSpPr>
        <p:spPr>
          <a:xfrm xmlns:a="http://schemas.openxmlformats.org/drawingml/2006/main">
            <a:off x="609600" y="59626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35B"/>
                </a:solidFill>
                <a:latin typeface="Helvetica Neue"/>
                <a:ea typeface="Helvetica Neue"/>
                <a:cs typeface="Helvetica Neue"/>
              </a:defRPr>
            </a:defPPr>
            <a:lvl1pPr>
              <a:defRPr sz="1875" b="0">
                <a:solidFill>
                  <a:srgbClr val="52635B"/>
                </a:solidFill>
                <a:latin typeface="Helvetica Neue"/>
                <a:ea typeface="Helvetica Neue"/>
                <a:cs typeface="Helvetica Neue"/>
              </a:defRPr>
            </a:lvl1pPr>
            <a:lvl2pPr>
              <a:defRPr sz="1875" b="0">
                <a:solidFill>
                  <a:srgbClr val="52635B"/>
                </a:solidFill>
                <a:latin typeface="Helvetica Neue"/>
                <a:ea typeface="Helvetica Neue"/>
                <a:cs typeface="Helvetica Neue"/>
              </a:defRPr>
            </a:lvl2pPr>
            <a:lvl3pPr>
              <a:defRPr sz="1875" b="0">
                <a:solidFill>
                  <a:srgbClr val="52635B"/>
                </a:solidFill>
                <a:latin typeface="Helvetica Neue"/>
                <a:ea typeface="Helvetica Neue"/>
                <a:cs typeface="Helvetica Neue"/>
              </a:defRPr>
            </a:lvl3pPr>
            <a:lvl4pPr>
              <a:defRPr sz="1875" b="0">
                <a:solidFill>
                  <a:srgbClr val="52635B"/>
                </a:solidFill>
                <a:latin typeface="Helvetica Neue"/>
                <a:ea typeface="Helvetica Neue"/>
                <a:cs typeface="Helvetica Neue"/>
              </a:defRPr>
            </a:lvl4pPr>
            <a:lvl5pPr>
              <a:defRPr sz="1875" b="0">
                <a:solidFill>
                  <a:srgbClr val="52635B"/>
                </a:solidFill>
                <a:latin typeface="Helvetica Neue"/>
                <a:ea typeface="Helvetica Neue"/>
                <a:cs typeface="Helvetica Neue"/>
              </a:defRPr>
            </a:lvl5pPr>
            <a:lvl6pPr>
              <a:defRPr sz="1875" b="0">
                <a:solidFill>
                  <a:srgbClr val="52635B"/>
                </a:solidFill>
                <a:latin typeface="Helvetica Neue"/>
                <a:ea typeface="Helvetica Neue"/>
                <a:cs typeface="Helvetica Neue"/>
              </a:defRPr>
            </a:lvl6pPr>
            <a:lvl7pPr>
              <a:defRPr sz="1875" b="0">
                <a:solidFill>
                  <a:srgbClr val="52635B"/>
                </a:solidFill>
                <a:latin typeface="Helvetica Neue"/>
                <a:ea typeface="Helvetica Neue"/>
                <a:cs typeface="Helvetica Neue"/>
              </a:defRPr>
            </a:lvl7pPr>
            <a:lvl8pPr>
              <a:defRPr sz="1875" b="0">
                <a:solidFill>
                  <a:srgbClr val="52635B"/>
                </a:solidFill>
                <a:latin typeface="Helvetica Neue"/>
                <a:ea typeface="Helvetica Neue"/>
                <a:cs typeface="Helvetica Neue"/>
              </a:defRPr>
            </a:lvl8pPr>
            <a:lvl9pPr>
              <a:defRPr sz="1875" b="0">
                <a:solidFill>
                  <a:srgbClr val="52635B"/>
                </a:solidFill>
                <a:latin typeface="Helvetica Neue"/>
                <a:ea typeface="Helvetica Neue"/>
                <a:cs typeface="Helvetica Neue"/>
              </a:defRPr>
            </a:lvl9pPr>
          </a:lstStyle>
          <a:p xmlns:a="http://schemas.openxmlformats.org/drawingml/2006/main">
            <a:pPr>
              <a:defRPr sz="1875" b="0">
                <a:solidFill>
                  <a:srgbClr val="52635B"/>
                </a:solidFill>
                <a:latin typeface="Helvetica Neue"/>
                <a:ea typeface="Helvetica Neue"/>
                <a:cs typeface="Helvetica Neue"/>
              </a:defRPr>
            </a:pPr>
            <a:r>
              <a:rPr sz="1875" b="0">
                <a:solidFill>
                  <a:srgbClr val="52635B"/>
                </a:solidFill>
                <a:latin typeface="Helvetica Neue"/>
                <a:ea typeface="Helvetica Neue"/>
                <a:cs typeface="Helvetica Neue"/>
              </a:rPr>
              <a:t>NVIDIA Nemotron Nano on Nebius Token Factory</a:t>
            </a:r>
          </a:p>
        </p:txBody>
      </p:sp>
    </p:spTree>
    <p:extLst>
      <p:ext uri="{BB962C8B-B14F-4D97-AF65-F5344CB8AC3E}">
        <p14:creationId xmlns:p14="http://schemas.microsoft.com/office/powerpoint/2010/main" val="1858652909"/>
      </p:ext>
    </p:extLst>
  </p:cSld>
</p:sld>
</file>

<file path=ppt/slides/slide4.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BF675D-F90F-4EFA-839D-D851084C6F26}"/>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D34"/>
                </a:solidFill>
                <a:latin typeface="Helvetica Neue"/>
                <a:ea typeface="Helvetica Neue"/>
                <a:cs typeface="Helvetica Neue"/>
              </a:defRPr>
            </a:defPPr>
            <a:lvl1pPr>
              <a:defRPr sz="3600" b="1">
                <a:solidFill>
                  <a:srgbClr val="243D34"/>
                </a:solidFill>
                <a:latin typeface="Helvetica Neue"/>
                <a:ea typeface="Helvetica Neue"/>
                <a:cs typeface="Helvetica Neue"/>
              </a:defRPr>
            </a:lvl1pPr>
            <a:lvl2pPr>
              <a:defRPr sz="3600" b="1">
                <a:solidFill>
                  <a:srgbClr val="243D34"/>
                </a:solidFill>
                <a:latin typeface="Helvetica Neue"/>
                <a:ea typeface="Helvetica Neue"/>
                <a:cs typeface="Helvetica Neue"/>
              </a:defRPr>
            </a:lvl2pPr>
            <a:lvl3pPr>
              <a:defRPr sz="3600" b="1">
                <a:solidFill>
                  <a:srgbClr val="243D34"/>
                </a:solidFill>
                <a:latin typeface="Helvetica Neue"/>
                <a:ea typeface="Helvetica Neue"/>
                <a:cs typeface="Helvetica Neue"/>
              </a:defRPr>
            </a:lvl3pPr>
            <a:lvl4pPr>
              <a:defRPr sz="3600" b="1">
                <a:solidFill>
                  <a:srgbClr val="243D34"/>
                </a:solidFill>
                <a:latin typeface="Helvetica Neue"/>
                <a:ea typeface="Helvetica Neue"/>
                <a:cs typeface="Helvetica Neue"/>
              </a:defRPr>
            </a:lvl4pPr>
            <a:lvl5pPr>
              <a:defRPr sz="3600" b="1">
                <a:solidFill>
                  <a:srgbClr val="243D34"/>
                </a:solidFill>
                <a:latin typeface="Helvetica Neue"/>
                <a:ea typeface="Helvetica Neue"/>
                <a:cs typeface="Helvetica Neue"/>
              </a:defRPr>
            </a:lvl5pPr>
            <a:lvl6pPr>
              <a:defRPr sz="3600" b="1">
                <a:solidFill>
                  <a:srgbClr val="243D34"/>
                </a:solidFill>
                <a:latin typeface="Helvetica Neue"/>
                <a:ea typeface="Helvetica Neue"/>
                <a:cs typeface="Helvetica Neue"/>
              </a:defRPr>
            </a:lvl6pPr>
            <a:lvl7pPr>
              <a:defRPr sz="3600" b="1">
                <a:solidFill>
                  <a:srgbClr val="243D34"/>
                </a:solidFill>
                <a:latin typeface="Helvetica Neue"/>
                <a:ea typeface="Helvetica Neue"/>
                <a:cs typeface="Helvetica Neue"/>
              </a:defRPr>
            </a:lvl7pPr>
            <a:lvl8pPr>
              <a:defRPr sz="3600" b="1">
                <a:solidFill>
                  <a:srgbClr val="243D34"/>
                </a:solidFill>
                <a:latin typeface="Helvetica Neue"/>
                <a:ea typeface="Helvetica Neue"/>
                <a:cs typeface="Helvetica Neue"/>
              </a:defRPr>
            </a:lvl8pPr>
            <a:lvl9pPr>
              <a:defRPr sz="3600" b="1">
                <a:solidFill>
                  <a:srgbClr val="243D34"/>
                </a:solidFill>
                <a:latin typeface="Helvetica Neue"/>
                <a:ea typeface="Helvetica Neue"/>
                <a:cs typeface="Helvetica Neue"/>
              </a:defRPr>
            </a:lvl9pPr>
          </a:lstStyle>
          <a:p xmlns:a="http://schemas.openxmlformats.org/drawingml/2006/main">
            <a:pPr>
              <a:defRPr sz="3600" b="1">
                <a:solidFill>
                  <a:srgbClr val="243D34"/>
                </a:solidFill>
                <a:latin typeface="Helvetica Neue"/>
                <a:ea typeface="Helvetica Neue"/>
                <a:cs typeface="Helvetica Neue"/>
              </a:defRPr>
            </a:pPr>
            <a:r>
              <a:rPr sz="3600" b="1">
                <a:solidFill>
                  <a:srgbClr val="243D34"/>
                </a:solidFill>
                <a:latin typeface="Helvetica Neue"/>
                <a:ea typeface="Helvetica Neue"/>
                <a:cs typeface="Helvetica Neue"/>
              </a:rPr>
              <a:t>A repeat with an inspectable purpose</a:t>
            </a:r>
          </a:p>
        </p:txBody>
      </p:sp>
      <p:pic>
        <p:nvPicPr>
          <p:cNvPr id="2" name="">
            <a:extLst xmlns:a="http://schemas.openxmlformats.org/drawingml/2006/main">
              <a:ext uri="{FF2B5EF4-FFF2-40B4-BE49-F238E27FC236}">
                <a16:creationId xmlns:a16="http://schemas.microsoft.com/office/drawing/2014/main" id="{59FE5F60-3399-41AD-B02F-B418E948BD7D}"/>
              </a:ext>
            </a:extLst>
          </p:cNvPr>
          <p:cNvPicPr>
            <a:picLocks xmlns:a="http://schemas.openxmlformats.org/drawingml/2006/main" noChangeAspect="1"/>
          </p:cNvPicPr>
          <p:nvPr/>
        </p:nvPicPr>
        <p:blipFill>
          <a:blip xmlns:r="http://schemas.openxmlformats.org/officeDocument/2006/relationships" xmlns:a="http://schemas.openxmlformats.org/drawingml/2006/main" r:embed="R57b6f23f366a4b11"/>
          <a:stretch xmlns:a="http://schemas.openxmlformats.org/drawingml/2006/main"/>
        </p:blipFill>
        <p:spPr>
          <a:xfrm xmlns:a="http://schemas.openxmlformats.org/drawingml/2006/main">
            <a:off x="609600" y="1587249"/>
            <a:ext cx="7762875" cy="436930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23D07E1-A2AC-4080-B419-5786D614D53E}"/>
              </a:ext>
            </a:extLst>
          </p:cNvPr>
          <p:cNvSpPr>
            <a:spLocks xmlns:a="http://schemas.openxmlformats.org/drawingml/2006/main" noGrp="1"/>
          </p:cNvSpPr>
          <p:nvPr/>
        </p:nvSpPr>
        <p:spPr>
          <a:xfrm xmlns:a="http://schemas.openxmlformats.org/drawingml/2006/main">
            <a:off x="8810625" y="21145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D34"/>
                </a:solidFill>
                <a:latin typeface="Helvetica Neue"/>
                <a:ea typeface="Helvetica Neue"/>
                <a:cs typeface="Helvetica Neue"/>
              </a:defRPr>
            </a:defPPr>
            <a:lvl1pPr>
              <a:defRPr sz="3600" b="1">
                <a:solidFill>
                  <a:srgbClr val="243D34"/>
                </a:solidFill>
                <a:latin typeface="Helvetica Neue"/>
                <a:ea typeface="Helvetica Neue"/>
                <a:cs typeface="Helvetica Neue"/>
              </a:defRPr>
            </a:lvl1pPr>
            <a:lvl2pPr>
              <a:defRPr sz="3600" b="1">
                <a:solidFill>
                  <a:srgbClr val="243D34"/>
                </a:solidFill>
                <a:latin typeface="Helvetica Neue"/>
                <a:ea typeface="Helvetica Neue"/>
                <a:cs typeface="Helvetica Neue"/>
              </a:defRPr>
            </a:lvl2pPr>
            <a:lvl3pPr>
              <a:defRPr sz="3600" b="1">
                <a:solidFill>
                  <a:srgbClr val="243D34"/>
                </a:solidFill>
                <a:latin typeface="Helvetica Neue"/>
                <a:ea typeface="Helvetica Neue"/>
                <a:cs typeface="Helvetica Neue"/>
              </a:defRPr>
            </a:lvl3pPr>
            <a:lvl4pPr>
              <a:defRPr sz="3600" b="1">
                <a:solidFill>
                  <a:srgbClr val="243D34"/>
                </a:solidFill>
                <a:latin typeface="Helvetica Neue"/>
                <a:ea typeface="Helvetica Neue"/>
                <a:cs typeface="Helvetica Neue"/>
              </a:defRPr>
            </a:lvl4pPr>
            <a:lvl5pPr>
              <a:defRPr sz="3600" b="1">
                <a:solidFill>
                  <a:srgbClr val="243D34"/>
                </a:solidFill>
                <a:latin typeface="Helvetica Neue"/>
                <a:ea typeface="Helvetica Neue"/>
                <a:cs typeface="Helvetica Neue"/>
              </a:defRPr>
            </a:lvl5pPr>
            <a:lvl6pPr>
              <a:defRPr sz="3600" b="1">
                <a:solidFill>
                  <a:srgbClr val="243D34"/>
                </a:solidFill>
                <a:latin typeface="Helvetica Neue"/>
                <a:ea typeface="Helvetica Neue"/>
                <a:cs typeface="Helvetica Neue"/>
              </a:defRPr>
            </a:lvl6pPr>
            <a:lvl7pPr>
              <a:defRPr sz="3600" b="1">
                <a:solidFill>
                  <a:srgbClr val="243D34"/>
                </a:solidFill>
                <a:latin typeface="Helvetica Neue"/>
                <a:ea typeface="Helvetica Neue"/>
                <a:cs typeface="Helvetica Neue"/>
              </a:defRPr>
            </a:lvl7pPr>
            <a:lvl8pPr>
              <a:defRPr sz="3600" b="1">
                <a:solidFill>
                  <a:srgbClr val="243D34"/>
                </a:solidFill>
                <a:latin typeface="Helvetica Neue"/>
                <a:ea typeface="Helvetica Neue"/>
                <a:cs typeface="Helvetica Neue"/>
              </a:defRPr>
            </a:lvl8pPr>
            <a:lvl9pPr>
              <a:defRPr sz="3600" b="1">
                <a:solidFill>
                  <a:srgbClr val="243D34"/>
                </a:solidFill>
                <a:latin typeface="Helvetica Neue"/>
                <a:ea typeface="Helvetica Neue"/>
                <a:cs typeface="Helvetica Neue"/>
              </a:defRPr>
            </a:lvl9pPr>
          </a:lstStyle>
          <a:p xmlns:a="http://schemas.openxmlformats.org/drawingml/2006/main">
            <a:pPr>
              <a:defRPr sz="3600" b="1">
                <a:solidFill>
                  <a:srgbClr val="243D34"/>
                </a:solidFill>
                <a:latin typeface="Helvetica Neue"/>
                <a:ea typeface="Helvetica Neue"/>
                <a:cs typeface="Helvetica Neue"/>
              </a:defRPr>
            </a:pPr>
            <a:r>
              <a:rPr sz="3600" b="1">
                <a:solidFill>
                  <a:srgbClr val="243D34"/>
                </a:solidFill>
                <a:latin typeface="Helvetica Neue"/>
                <a:ea typeface="Helvetica Neue"/>
                <a:cs typeface="Helvetica Neue"/>
              </a:rPr>
              <a:t>16 wells</a:t>
            </a:r>
          </a:p>
        </p:txBody>
      </p:sp>
      <p:sp>
        <p:nvSpPr>
          <p:cNvPr id="4" name="">
            <a:extLst xmlns:a="http://schemas.openxmlformats.org/drawingml/2006/main">
              <a:ext uri="{FF2B5EF4-FFF2-40B4-BE49-F238E27FC236}">
                <a16:creationId xmlns:a16="http://schemas.microsoft.com/office/drawing/2014/main" id="{E1291DED-4C24-4609-B21D-0022AB56EBCC}"/>
              </a:ext>
            </a:extLst>
          </p:cNvPr>
          <p:cNvSpPr>
            <a:spLocks xmlns:a="http://schemas.openxmlformats.org/drawingml/2006/main" noGrp="1"/>
          </p:cNvSpPr>
          <p:nvPr/>
        </p:nvSpPr>
        <p:spPr>
          <a:xfrm xmlns:a="http://schemas.openxmlformats.org/drawingml/2006/main">
            <a:off x="8810625" y="285750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35B"/>
                </a:solidFill>
                <a:latin typeface="Helvetica Neue"/>
                <a:ea typeface="Helvetica Neue"/>
                <a:cs typeface="Helvetica Neue"/>
              </a:defRPr>
            </a:defPPr>
            <a:lvl1pPr>
              <a:defRPr sz="2175" b="0">
                <a:solidFill>
                  <a:srgbClr val="52635B"/>
                </a:solidFill>
                <a:latin typeface="Helvetica Neue"/>
                <a:ea typeface="Helvetica Neue"/>
                <a:cs typeface="Helvetica Neue"/>
              </a:defRPr>
            </a:lvl1pPr>
            <a:lvl2pPr>
              <a:defRPr sz="2175" b="0">
                <a:solidFill>
                  <a:srgbClr val="52635B"/>
                </a:solidFill>
                <a:latin typeface="Helvetica Neue"/>
                <a:ea typeface="Helvetica Neue"/>
                <a:cs typeface="Helvetica Neue"/>
              </a:defRPr>
            </a:lvl2pPr>
            <a:lvl3pPr>
              <a:defRPr sz="2175" b="0">
                <a:solidFill>
                  <a:srgbClr val="52635B"/>
                </a:solidFill>
                <a:latin typeface="Helvetica Neue"/>
                <a:ea typeface="Helvetica Neue"/>
                <a:cs typeface="Helvetica Neue"/>
              </a:defRPr>
            </a:lvl3pPr>
            <a:lvl4pPr>
              <a:defRPr sz="2175" b="0">
                <a:solidFill>
                  <a:srgbClr val="52635B"/>
                </a:solidFill>
                <a:latin typeface="Helvetica Neue"/>
                <a:ea typeface="Helvetica Neue"/>
                <a:cs typeface="Helvetica Neue"/>
              </a:defRPr>
            </a:lvl4pPr>
            <a:lvl5pPr>
              <a:defRPr sz="2175" b="0">
                <a:solidFill>
                  <a:srgbClr val="52635B"/>
                </a:solidFill>
                <a:latin typeface="Helvetica Neue"/>
                <a:ea typeface="Helvetica Neue"/>
                <a:cs typeface="Helvetica Neue"/>
              </a:defRPr>
            </a:lvl5pPr>
            <a:lvl6pPr>
              <a:defRPr sz="2175" b="0">
                <a:solidFill>
                  <a:srgbClr val="52635B"/>
                </a:solidFill>
                <a:latin typeface="Helvetica Neue"/>
                <a:ea typeface="Helvetica Neue"/>
                <a:cs typeface="Helvetica Neue"/>
              </a:defRPr>
            </a:lvl6pPr>
            <a:lvl7pPr>
              <a:defRPr sz="2175" b="0">
                <a:solidFill>
                  <a:srgbClr val="52635B"/>
                </a:solidFill>
                <a:latin typeface="Helvetica Neue"/>
                <a:ea typeface="Helvetica Neue"/>
                <a:cs typeface="Helvetica Neue"/>
              </a:defRPr>
            </a:lvl7pPr>
            <a:lvl8pPr>
              <a:defRPr sz="2175" b="0">
                <a:solidFill>
                  <a:srgbClr val="52635B"/>
                </a:solidFill>
                <a:latin typeface="Helvetica Neue"/>
                <a:ea typeface="Helvetica Neue"/>
                <a:cs typeface="Helvetica Neue"/>
              </a:defRPr>
            </a:lvl8pPr>
            <a:lvl9pPr>
              <a:defRPr sz="2175" b="0">
                <a:solidFill>
                  <a:srgbClr val="52635B"/>
                </a:solidFill>
                <a:latin typeface="Helvetica Neue"/>
                <a:ea typeface="Helvetica Neue"/>
                <a:cs typeface="Helvetica Neue"/>
              </a:defRPr>
            </a:lvl9pPr>
          </a:lstStyle>
          <a:p xmlns:a="http://schemas.openxmlformats.org/drawingml/2006/main">
            <a:pPr>
              <a:defRPr sz="2175" b="0">
                <a:solidFill>
                  <a:srgbClr val="52635B"/>
                </a:solidFill>
                <a:latin typeface="Helvetica Neue"/>
                <a:ea typeface="Helvetica Neue"/>
                <a:cs typeface="Helvetica Neue"/>
              </a:defRPr>
            </a:pPr>
            <a:r>
              <a:rPr sz="2175" b="0">
                <a:solidFill>
                  <a:srgbClr val="52635B"/>
                </a:solidFill>
                <a:latin typeface="Helvetica Neue"/>
                <a:ea typeface="Helvetica Neue"/>
                <a:cs typeface="Helvetica Neue"/>
              </a:rPr>
              <a:t>allocated from</a:t>
            </a:r>
          </a:p>
          <a:p xmlns:a="http://schemas.openxmlformats.org/drawingml/2006/main">
            <a:pPr>
              <a:defRPr sz="2175" b="0">
                <a:solidFill>
                  <a:srgbClr val="52635B"/>
                </a:solidFill>
                <a:latin typeface="Helvetica Neue"/>
                <a:ea typeface="Helvetica Neue"/>
                <a:cs typeface="Helvetica Neue"/>
              </a:defRPr>
            </a:pPr>
            <a:r>
              <a:rPr sz="2175" b="0">
                <a:solidFill>
                  <a:srgbClr val="52635B"/>
                </a:solidFill>
                <a:latin typeface="Helvetica Neue"/>
                <a:ea typeface="Helvetica Neue"/>
                <a:cs typeface="Helvetica Neue"/>
              </a:rPr>
              <a:t>a budget of 24</a:t>
            </a:r>
          </a:p>
        </p:txBody>
      </p:sp>
      <p:sp>
        <p:nvSpPr>
          <p:cNvPr id="5" name="">
            <a:extLst xmlns:a="http://schemas.openxmlformats.org/drawingml/2006/main">
              <a:ext uri="{FF2B5EF4-FFF2-40B4-BE49-F238E27FC236}">
                <a16:creationId xmlns:a16="http://schemas.microsoft.com/office/drawing/2014/main" id="{923E9B49-4A4E-4EC4-935F-6C3C7B9E600D}"/>
              </a:ext>
            </a:extLst>
          </p:cNvPr>
          <p:cNvSpPr>
            <a:spLocks xmlns:a="http://schemas.openxmlformats.org/drawingml/2006/main" noGrp="1"/>
          </p:cNvSpPr>
          <p:nvPr/>
        </p:nvSpPr>
        <p:spPr>
          <a:xfrm xmlns:a="http://schemas.openxmlformats.org/drawingml/2006/main">
            <a:off x="8810625" y="4524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43D34"/>
                </a:solidFill>
                <a:latin typeface="Helvetica Neue"/>
                <a:ea typeface="Helvetica Neue"/>
                <a:cs typeface="Helvetica Neue"/>
              </a:defRPr>
            </a:defPPr>
            <a:lvl1pPr>
              <a:defRPr sz="2325" b="1">
                <a:solidFill>
                  <a:srgbClr val="243D34"/>
                </a:solidFill>
                <a:latin typeface="Helvetica Neue"/>
                <a:ea typeface="Helvetica Neue"/>
                <a:cs typeface="Helvetica Neue"/>
              </a:defRPr>
            </a:lvl1pPr>
            <a:lvl2pPr>
              <a:defRPr sz="2325" b="1">
                <a:solidFill>
                  <a:srgbClr val="243D34"/>
                </a:solidFill>
                <a:latin typeface="Helvetica Neue"/>
                <a:ea typeface="Helvetica Neue"/>
                <a:cs typeface="Helvetica Neue"/>
              </a:defRPr>
            </a:lvl2pPr>
            <a:lvl3pPr>
              <a:defRPr sz="2325" b="1">
                <a:solidFill>
                  <a:srgbClr val="243D34"/>
                </a:solidFill>
                <a:latin typeface="Helvetica Neue"/>
                <a:ea typeface="Helvetica Neue"/>
                <a:cs typeface="Helvetica Neue"/>
              </a:defRPr>
            </a:lvl3pPr>
            <a:lvl4pPr>
              <a:defRPr sz="2325" b="1">
                <a:solidFill>
                  <a:srgbClr val="243D34"/>
                </a:solidFill>
                <a:latin typeface="Helvetica Neue"/>
                <a:ea typeface="Helvetica Neue"/>
                <a:cs typeface="Helvetica Neue"/>
              </a:defRPr>
            </a:lvl4pPr>
            <a:lvl5pPr>
              <a:defRPr sz="2325" b="1">
                <a:solidFill>
                  <a:srgbClr val="243D34"/>
                </a:solidFill>
                <a:latin typeface="Helvetica Neue"/>
                <a:ea typeface="Helvetica Neue"/>
                <a:cs typeface="Helvetica Neue"/>
              </a:defRPr>
            </a:lvl5pPr>
            <a:lvl6pPr>
              <a:defRPr sz="2325" b="1">
                <a:solidFill>
                  <a:srgbClr val="243D34"/>
                </a:solidFill>
                <a:latin typeface="Helvetica Neue"/>
                <a:ea typeface="Helvetica Neue"/>
                <a:cs typeface="Helvetica Neue"/>
              </a:defRPr>
            </a:lvl6pPr>
            <a:lvl7pPr>
              <a:defRPr sz="2325" b="1">
                <a:solidFill>
                  <a:srgbClr val="243D34"/>
                </a:solidFill>
                <a:latin typeface="Helvetica Neue"/>
                <a:ea typeface="Helvetica Neue"/>
                <a:cs typeface="Helvetica Neue"/>
              </a:defRPr>
            </a:lvl7pPr>
            <a:lvl8pPr>
              <a:defRPr sz="2325" b="1">
                <a:solidFill>
                  <a:srgbClr val="243D34"/>
                </a:solidFill>
                <a:latin typeface="Helvetica Neue"/>
                <a:ea typeface="Helvetica Neue"/>
                <a:cs typeface="Helvetica Neue"/>
              </a:defRPr>
            </a:lvl8pPr>
            <a:lvl9pPr>
              <a:defRPr sz="2325" b="1">
                <a:solidFill>
                  <a:srgbClr val="243D34"/>
                </a:solidFill>
                <a:latin typeface="Helvetica Neue"/>
                <a:ea typeface="Helvetica Neue"/>
                <a:cs typeface="Helvetica Neue"/>
              </a:defRPr>
            </a:lvl9pPr>
          </a:lstStyle>
          <a:p xmlns:a="http://schemas.openxmlformats.org/drawingml/2006/main">
            <a:pPr>
              <a:defRPr sz="2325" b="1">
                <a:solidFill>
                  <a:srgbClr val="243D34"/>
                </a:solidFill>
                <a:latin typeface="Helvetica Neue"/>
                <a:ea typeface="Helvetica Neue"/>
                <a:cs typeface="Helvetica Neue"/>
              </a:defRPr>
            </a:pPr>
            <a:r>
              <a:rPr sz="2325" b="1">
                <a:solidFill>
                  <a:srgbClr val="243D34"/>
                </a:solidFill>
                <a:latin typeface="Helvetica Neue"/>
                <a:ea typeface="Helvetica Neue"/>
                <a:cs typeface="Helvetica Neue"/>
              </a:rPr>
              <a:t>Same materials</a:t>
            </a:r>
          </a:p>
          <a:p xmlns:a="http://schemas.openxmlformats.org/drawingml/2006/main">
            <a:pPr>
              <a:defRPr sz="2325" b="1">
                <a:solidFill>
                  <a:srgbClr val="243D34"/>
                </a:solidFill>
                <a:latin typeface="Helvetica Neue"/>
                <a:ea typeface="Helvetica Neue"/>
                <a:cs typeface="Helvetica Neue"/>
              </a:defRPr>
            </a:pPr>
            <a:r>
              <a:rPr sz="2325" b="1">
                <a:solidFill>
                  <a:srgbClr val="243D34"/>
                </a:solidFill>
                <a:latin typeface="Helvetica Neue"/>
                <a:ea typeface="Helvetica Neue"/>
                <a:cs typeface="Helvetica Neue"/>
              </a:rPr>
              <a:t>in both zones</a:t>
            </a:r>
          </a:p>
        </p:txBody>
      </p:sp>
      <p:sp>
        <p:nvSpPr>
          <p:cNvPr id="6" name="">
            <a:extLst xmlns:a="http://schemas.openxmlformats.org/drawingml/2006/main">
              <a:ext uri="{FF2B5EF4-FFF2-40B4-BE49-F238E27FC236}">
                <a16:creationId xmlns:a16="http://schemas.microsoft.com/office/drawing/2014/main" id="{8605C0CA-D0AD-4A56-80F1-5594F6BE8B7F}"/>
              </a:ext>
            </a:extLst>
          </p:cNvPr>
          <p:cNvSpPr>
            <a:spLocks xmlns:a="http://schemas.openxmlformats.org/drawingml/2006/main" noGrp="1"/>
          </p:cNvSpPr>
          <p:nvPr/>
        </p:nvSpPr>
        <p:spPr>
          <a:xfrm xmlns:a="http://schemas.openxmlformats.org/drawingml/2006/main">
            <a:off x="609600" y="61817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35B"/>
                </a:solidFill>
                <a:latin typeface="Helvetica Neue"/>
                <a:ea typeface="Helvetica Neue"/>
                <a:cs typeface="Helvetica Neue"/>
              </a:defRPr>
            </a:defPPr>
            <a:lvl1pPr>
              <a:defRPr sz="1875" b="0">
                <a:solidFill>
                  <a:srgbClr val="52635B"/>
                </a:solidFill>
                <a:latin typeface="Helvetica Neue"/>
                <a:ea typeface="Helvetica Neue"/>
                <a:cs typeface="Helvetica Neue"/>
              </a:defRPr>
            </a:lvl1pPr>
            <a:lvl2pPr>
              <a:defRPr sz="1875" b="0">
                <a:solidFill>
                  <a:srgbClr val="52635B"/>
                </a:solidFill>
                <a:latin typeface="Helvetica Neue"/>
                <a:ea typeface="Helvetica Neue"/>
                <a:cs typeface="Helvetica Neue"/>
              </a:defRPr>
            </a:lvl2pPr>
            <a:lvl3pPr>
              <a:defRPr sz="1875" b="0">
                <a:solidFill>
                  <a:srgbClr val="52635B"/>
                </a:solidFill>
                <a:latin typeface="Helvetica Neue"/>
                <a:ea typeface="Helvetica Neue"/>
                <a:cs typeface="Helvetica Neue"/>
              </a:defRPr>
            </a:lvl3pPr>
            <a:lvl4pPr>
              <a:defRPr sz="1875" b="0">
                <a:solidFill>
                  <a:srgbClr val="52635B"/>
                </a:solidFill>
                <a:latin typeface="Helvetica Neue"/>
                <a:ea typeface="Helvetica Neue"/>
                <a:cs typeface="Helvetica Neue"/>
              </a:defRPr>
            </a:lvl4pPr>
            <a:lvl5pPr>
              <a:defRPr sz="1875" b="0">
                <a:solidFill>
                  <a:srgbClr val="52635B"/>
                </a:solidFill>
                <a:latin typeface="Helvetica Neue"/>
                <a:ea typeface="Helvetica Neue"/>
                <a:cs typeface="Helvetica Neue"/>
              </a:defRPr>
            </a:lvl5pPr>
            <a:lvl6pPr>
              <a:defRPr sz="1875" b="0">
                <a:solidFill>
                  <a:srgbClr val="52635B"/>
                </a:solidFill>
                <a:latin typeface="Helvetica Neue"/>
                <a:ea typeface="Helvetica Neue"/>
                <a:cs typeface="Helvetica Neue"/>
              </a:defRPr>
            </a:lvl6pPr>
            <a:lvl7pPr>
              <a:defRPr sz="1875" b="0">
                <a:solidFill>
                  <a:srgbClr val="52635B"/>
                </a:solidFill>
                <a:latin typeface="Helvetica Neue"/>
                <a:ea typeface="Helvetica Neue"/>
                <a:cs typeface="Helvetica Neue"/>
              </a:defRPr>
            </a:lvl7pPr>
            <a:lvl8pPr>
              <a:defRPr sz="1875" b="0">
                <a:solidFill>
                  <a:srgbClr val="52635B"/>
                </a:solidFill>
                <a:latin typeface="Helvetica Neue"/>
                <a:ea typeface="Helvetica Neue"/>
                <a:cs typeface="Helvetica Neue"/>
              </a:defRPr>
            </a:lvl8pPr>
            <a:lvl9pPr>
              <a:defRPr sz="1875" b="0">
                <a:solidFill>
                  <a:srgbClr val="52635B"/>
                </a:solidFill>
                <a:latin typeface="Helvetica Neue"/>
                <a:ea typeface="Helvetica Neue"/>
                <a:cs typeface="Helvetica Neue"/>
              </a:defRPr>
            </a:lvl9pPr>
          </a:lstStyle>
          <a:p xmlns:a="http://schemas.openxmlformats.org/drawingml/2006/main">
            <a:pPr>
              <a:defRPr sz="1875" b="0">
                <a:solidFill>
                  <a:srgbClr val="52635B"/>
                </a:solidFill>
                <a:latin typeface="Helvetica Neue"/>
                <a:ea typeface="Helvetica Neue"/>
                <a:cs typeface="Helvetica Neue"/>
              </a:defRPr>
            </a:pPr>
            <a:r>
              <a:rPr sz="1875" b="0">
                <a:solidFill>
                  <a:srgbClr val="52635B"/>
                </a:solidFill>
                <a:latin typeface="Helvetica Neue"/>
                <a:ea typeface="Helvetica Neue"/>
                <a:cs typeface="Helvetica Neue"/>
              </a:rPr>
              <a:t>Proposed wells have no measured outcomes.</a:t>
            </a:r>
          </a:p>
        </p:txBody>
      </p:sp>
    </p:spTree>
    <p:extLst>
      <p:ext uri="{BB962C8B-B14F-4D97-AF65-F5344CB8AC3E}">
        <p14:creationId xmlns:p14="http://schemas.microsoft.com/office/powerpoint/2010/main" val="1549134516"/>
      </p:ext>
    </p:extLst>
  </p:cSld>
</p:sld>
</file>

<file path=ppt/slides/slide5.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25D978-2D33-4C7E-AD3E-79227380550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D34"/>
                </a:solidFill>
                <a:latin typeface="Helvetica Neue"/>
                <a:ea typeface="Helvetica Neue"/>
                <a:cs typeface="Helvetica Neue"/>
              </a:defRPr>
            </a:defPPr>
            <a:lvl1pPr>
              <a:defRPr sz="3600" b="1">
                <a:solidFill>
                  <a:srgbClr val="243D34"/>
                </a:solidFill>
                <a:latin typeface="Helvetica Neue"/>
                <a:ea typeface="Helvetica Neue"/>
                <a:cs typeface="Helvetica Neue"/>
              </a:defRPr>
            </a:lvl1pPr>
            <a:lvl2pPr>
              <a:defRPr sz="3600" b="1">
                <a:solidFill>
                  <a:srgbClr val="243D34"/>
                </a:solidFill>
                <a:latin typeface="Helvetica Neue"/>
                <a:ea typeface="Helvetica Neue"/>
                <a:cs typeface="Helvetica Neue"/>
              </a:defRPr>
            </a:lvl2pPr>
            <a:lvl3pPr>
              <a:defRPr sz="3600" b="1">
                <a:solidFill>
                  <a:srgbClr val="243D34"/>
                </a:solidFill>
                <a:latin typeface="Helvetica Neue"/>
                <a:ea typeface="Helvetica Neue"/>
                <a:cs typeface="Helvetica Neue"/>
              </a:defRPr>
            </a:lvl3pPr>
            <a:lvl4pPr>
              <a:defRPr sz="3600" b="1">
                <a:solidFill>
                  <a:srgbClr val="243D34"/>
                </a:solidFill>
                <a:latin typeface="Helvetica Neue"/>
                <a:ea typeface="Helvetica Neue"/>
                <a:cs typeface="Helvetica Neue"/>
              </a:defRPr>
            </a:lvl4pPr>
            <a:lvl5pPr>
              <a:defRPr sz="3600" b="1">
                <a:solidFill>
                  <a:srgbClr val="243D34"/>
                </a:solidFill>
                <a:latin typeface="Helvetica Neue"/>
                <a:ea typeface="Helvetica Neue"/>
                <a:cs typeface="Helvetica Neue"/>
              </a:defRPr>
            </a:lvl5pPr>
            <a:lvl6pPr>
              <a:defRPr sz="3600" b="1">
                <a:solidFill>
                  <a:srgbClr val="243D34"/>
                </a:solidFill>
                <a:latin typeface="Helvetica Neue"/>
                <a:ea typeface="Helvetica Neue"/>
                <a:cs typeface="Helvetica Neue"/>
              </a:defRPr>
            </a:lvl6pPr>
            <a:lvl7pPr>
              <a:defRPr sz="3600" b="1">
                <a:solidFill>
                  <a:srgbClr val="243D34"/>
                </a:solidFill>
                <a:latin typeface="Helvetica Neue"/>
                <a:ea typeface="Helvetica Neue"/>
                <a:cs typeface="Helvetica Neue"/>
              </a:defRPr>
            </a:lvl7pPr>
            <a:lvl8pPr>
              <a:defRPr sz="3600" b="1">
                <a:solidFill>
                  <a:srgbClr val="243D34"/>
                </a:solidFill>
                <a:latin typeface="Helvetica Neue"/>
                <a:ea typeface="Helvetica Neue"/>
                <a:cs typeface="Helvetica Neue"/>
              </a:defRPr>
            </a:lvl8pPr>
            <a:lvl9pPr>
              <a:defRPr sz="3600" b="1">
                <a:solidFill>
                  <a:srgbClr val="243D34"/>
                </a:solidFill>
                <a:latin typeface="Helvetica Neue"/>
                <a:ea typeface="Helvetica Neue"/>
                <a:cs typeface="Helvetica Neue"/>
              </a:defRPr>
            </a:lvl9pPr>
          </a:lstStyle>
          <a:p xmlns:a="http://schemas.openxmlformats.org/drawingml/2006/main">
            <a:pPr>
              <a:defRPr sz="3600" b="1">
                <a:solidFill>
                  <a:srgbClr val="243D34"/>
                </a:solidFill>
                <a:latin typeface="Helvetica Neue"/>
                <a:ea typeface="Helvetica Neue"/>
                <a:cs typeface="Helvetica Neue"/>
              </a:defRPr>
            </a:pPr>
            <a:r>
              <a:rPr sz="3600" b="1">
                <a:solidFill>
                  <a:srgbClr val="243D34"/>
                </a:solidFill>
                <a:latin typeface="Helvetica Neue"/>
                <a:ea typeface="Helvetica Neue"/>
                <a:cs typeface="Helvetica Neue"/>
              </a:rPr>
              <a:t>Researcher review and current evidence</a:t>
            </a:r>
          </a:p>
        </p:txBody>
      </p:sp>
      <p:sp>
        <p:nvSpPr>
          <p:cNvPr id="2" name="">
            <a:extLst xmlns:a="http://schemas.openxmlformats.org/drawingml/2006/main">
              <a:ext uri="{FF2B5EF4-FFF2-40B4-BE49-F238E27FC236}">
                <a16:creationId xmlns:a16="http://schemas.microsoft.com/office/drawing/2014/main" id="{BCEC96D3-B6EF-4F2D-B181-203338FDC2BF}"/>
              </a:ext>
            </a:extLst>
          </p:cNvPr>
          <p:cNvSpPr>
            <a:spLocks xmlns:a="http://schemas.openxmlformats.org/drawingml/2006/main" noGrp="1"/>
          </p:cNvSpPr>
          <p:nvPr/>
        </p:nvSpPr>
        <p:spPr>
          <a:xfrm xmlns:a="http://schemas.openxmlformats.org/drawingml/2006/main">
            <a:off x="609600" y="16764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43D34"/>
                </a:solidFill>
                <a:latin typeface="Helvetica Neue"/>
                <a:ea typeface="Helvetica Neue"/>
                <a:cs typeface="Helvetica Neue"/>
              </a:defRPr>
            </a:defPPr>
            <a:lvl1pPr>
              <a:defRPr sz="2550" b="1">
                <a:solidFill>
                  <a:srgbClr val="243D34"/>
                </a:solidFill>
                <a:latin typeface="Helvetica Neue"/>
                <a:ea typeface="Helvetica Neue"/>
                <a:cs typeface="Helvetica Neue"/>
              </a:defRPr>
            </a:lvl1pPr>
            <a:lvl2pPr>
              <a:defRPr sz="2550" b="1">
                <a:solidFill>
                  <a:srgbClr val="243D34"/>
                </a:solidFill>
                <a:latin typeface="Helvetica Neue"/>
                <a:ea typeface="Helvetica Neue"/>
                <a:cs typeface="Helvetica Neue"/>
              </a:defRPr>
            </a:lvl2pPr>
            <a:lvl3pPr>
              <a:defRPr sz="2550" b="1">
                <a:solidFill>
                  <a:srgbClr val="243D34"/>
                </a:solidFill>
                <a:latin typeface="Helvetica Neue"/>
                <a:ea typeface="Helvetica Neue"/>
                <a:cs typeface="Helvetica Neue"/>
              </a:defRPr>
            </a:lvl3pPr>
            <a:lvl4pPr>
              <a:defRPr sz="2550" b="1">
                <a:solidFill>
                  <a:srgbClr val="243D34"/>
                </a:solidFill>
                <a:latin typeface="Helvetica Neue"/>
                <a:ea typeface="Helvetica Neue"/>
                <a:cs typeface="Helvetica Neue"/>
              </a:defRPr>
            </a:lvl4pPr>
            <a:lvl5pPr>
              <a:defRPr sz="2550" b="1">
                <a:solidFill>
                  <a:srgbClr val="243D34"/>
                </a:solidFill>
                <a:latin typeface="Helvetica Neue"/>
                <a:ea typeface="Helvetica Neue"/>
                <a:cs typeface="Helvetica Neue"/>
              </a:defRPr>
            </a:lvl5pPr>
            <a:lvl6pPr>
              <a:defRPr sz="2550" b="1">
                <a:solidFill>
                  <a:srgbClr val="243D34"/>
                </a:solidFill>
                <a:latin typeface="Helvetica Neue"/>
                <a:ea typeface="Helvetica Neue"/>
                <a:cs typeface="Helvetica Neue"/>
              </a:defRPr>
            </a:lvl6pPr>
            <a:lvl7pPr>
              <a:defRPr sz="2550" b="1">
                <a:solidFill>
                  <a:srgbClr val="243D34"/>
                </a:solidFill>
                <a:latin typeface="Helvetica Neue"/>
                <a:ea typeface="Helvetica Neue"/>
                <a:cs typeface="Helvetica Neue"/>
              </a:defRPr>
            </a:lvl7pPr>
            <a:lvl8pPr>
              <a:defRPr sz="2550" b="1">
                <a:solidFill>
                  <a:srgbClr val="243D34"/>
                </a:solidFill>
                <a:latin typeface="Helvetica Neue"/>
                <a:ea typeface="Helvetica Neue"/>
                <a:cs typeface="Helvetica Neue"/>
              </a:defRPr>
            </a:lvl8pPr>
            <a:lvl9pPr>
              <a:defRPr sz="2550" b="1">
                <a:solidFill>
                  <a:srgbClr val="243D34"/>
                </a:solidFill>
                <a:latin typeface="Helvetica Neue"/>
                <a:ea typeface="Helvetica Neue"/>
                <a:cs typeface="Helvetica Neue"/>
              </a:defRPr>
            </a:lvl9pPr>
          </a:lstStyle>
          <a:p xmlns:a="http://schemas.openxmlformats.org/drawingml/2006/main">
            <a:pPr>
              <a:defRPr sz="2550" b="1">
                <a:solidFill>
                  <a:srgbClr val="243D34"/>
                </a:solidFill>
                <a:latin typeface="Helvetica Neue"/>
                <a:ea typeface="Helvetica Neue"/>
                <a:cs typeface="Helvetica Neue"/>
              </a:defRPr>
            </a:pPr>
            <a:r>
              <a:rPr sz="2550" b="1">
                <a:solidFill>
                  <a:srgbClr val="243D34"/>
                </a:solidFill>
                <a:latin typeface="Helvetica Neue"/>
                <a:ea typeface="Helvetica Neue"/>
                <a:cs typeface="Helvetica Neue"/>
              </a:rPr>
              <a:t>Compatibility review before layout export</a:t>
            </a:r>
          </a:p>
        </p:txBody>
      </p:sp>
      <p:sp>
        <p:nvSpPr>
          <p:cNvPr id="3" name="">
            <a:extLst xmlns:a="http://schemas.openxmlformats.org/drawingml/2006/main">
              <a:ext uri="{FF2B5EF4-FFF2-40B4-BE49-F238E27FC236}">
                <a16:creationId xmlns:a16="http://schemas.microsoft.com/office/drawing/2014/main" id="{838298FA-7ABF-487F-98B6-AD3A8926E081}"/>
              </a:ext>
            </a:extLst>
          </p:cNvPr>
          <p:cNvSpPr>
            <a:spLocks xmlns:a="http://schemas.openxmlformats.org/drawingml/2006/main" noGrp="1"/>
          </p:cNvSpPr>
          <p:nvPr/>
        </p:nvSpPr>
        <p:spPr>
          <a:xfrm xmlns:a="http://schemas.openxmlformats.org/drawingml/2006/main">
            <a:off x="609600" y="25717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43D34"/>
                </a:solidFill>
                <a:latin typeface="Helvetica Neue"/>
                <a:ea typeface="Helvetica Neue"/>
                <a:cs typeface="Helvetica Neue"/>
              </a:defRPr>
            </a:defPPr>
            <a:lvl1pPr>
              <a:defRPr sz="2550" b="1">
                <a:solidFill>
                  <a:srgbClr val="243D34"/>
                </a:solidFill>
                <a:latin typeface="Helvetica Neue"/>
                <a:ea typeface="Helvetica Neue"/>
                <a:cs typeface="Helvetica Neue"/>
              </a:defRPr>
            </a:lvl1pPr>
            <a:lvl2pPr>
              <a:defRPr sz="2550" b="1">
                <a:solidFill>
                  <a:srgbClr val="243D34"/>
                </a:solidFill>
                <a:latin typeface="Helvetica Neue"/>
                <a:ea typeface="Helvetica Neue"/>
                <a:cs typeface="Helvetica Neue"/>
              </a:defRPr>
            </a:lvl2pPr>
            <a:lvl3pPr>
              <a:defRPr sz="2550" b="1">
                <a:solidFill>
                  <a:srgbClr val="243D34"/>
                </a:solidFill>
                <a:latin typeface="Helvetica Neue"/>
                <a:ea typeface="Helvetica Neue"/>
                <a:cs typeface="Helvetica Neue"/>
              </a:defRPr>
            </a:lvl3pPr>
            <a:lvl4pPr>
              <a:defRPr sz="2550" b="1">
                <a:solidFill>
                  <a:srgbClr val="243D34"/>
                </a:solidFill>
                <a:latin typeface="Helvetica Neue"/>
                <a:ea typeface="Helvetica Neue"/>
                <a:cs typeface="Helvetica Neue"/>
              </a:defRPr>
            </a:lvl4pPr>
            <a:lvl5pPr>
              <a:defRPr sz="2550" b="1">
                <a:solidFill>
                  <a:srgbClr val="243D34"/>
                </a:solidFill>
                <a:latin typeface="Helvetica Neue"/>
                <a:ea typeface="Helvetica Neue"/>
                <a:cs typeface="Helvetica Neue"/>
              </a:defRPr>
            </a:lvl5pPr>
            <a:lvl6pPr>
              <a:defRPr sz="2550" b="1">
                <a:solidFill>
                  <a:srgbClr val="243D34"/>
                </a:solidFill>
                <a:latin typeface="Helvetica Neue"/>
                <a:ea typeface="Helvetica Neue"/>
                <a:cs typeface="Helvetica Neue"/>
              </a:defRPr>
            </a:lvl6pPr>
            <a:lvl7pPr>
              <a:defRPr sz="2550" b="1">
                <a:solidFill>
                  <a:srgbClr val="243D34"/>
                </a:solidFill>
                <a:latin typeface="Helvetica Neue"/>
                <a:ea typeface="Helvetica Neue"/>
                <a:cs typeface="Helvetica Neue"/>
              </a:defRPr>
            </a:lvl7pPr>
            <a:lvl8pPr>
              <a:defRPr sz="2550" b="1">
                <a:solidFill>
                  <a:srgbClr val="243D34"/>
                </a:solidFill>
                <a:latin typeface="Helvetica Neue"/>
                <a:ea typeface="Helvetica Neue"/>
                <a:cs typeface="Helvetica Neue"/>
              </a:defRPr>
            </a:lvl8pPr>
            <a:lvl9pPr>
              <a:defRPr sz="2550" b="1">
                <a:solidFill>
                  <a:srgbClr val="243D34"/>
                </a:solidFill>
                <a:latin typeface="Helvetica Neue"/>
                <a:ea typeface="Helvetica Neue"/>
                <a:cs typeface="Helvetica Neue"/>
              </a:defRPr>
            </a:lvl9pPr>
          </a:lstStyle>
          <a:p xmlns:a="http://schemas.openxmlformats.org/drawingml/2006/main">
            <a:pPr>
              <a:defRPr sz="2550" b="1">
                <a:solidFill>
                  <a:srgbClr val="243D34"/>
                </a:solidFill>
                <a:latin typeface="Helvetica Neue"/>
                <a:ea typeface="Helvetica Neue"/>
                <a:cs typeface="Helvetica Neue"/>
              </a:defRPr>
            </a:pPr>
            <a:r>
              <a:rPr sz="2550" b="1">
                <a:solidFill>
                  <a:srgbClr val="243D34"/>
                </a:solidFill>
                <a:latin typeface="Helvetica Neue"/>
                <a:ea typeface="Helvetica Neue"/>
                <a:cs typeface="Helvetica Neue"/>
              </a:rPr>
              <a:t>Notes and source identifiers preserve context</a:t>
            </a:r>
          </a:p>
        </p:txBody>
      </p:sp>
      <p:sp>
        <p:nvSpPr>
          <p:cNvPr id="4" name="">
            <a:extLst xmlns:a="http://schemas.openxmlformats.org/drawingml/2006/main">
              <a:ext uri="{FF2B5EF4-FFF2-40B4-BE49-F238E27FC236}">
                <a16:creationId xmlns:a16="http://schemas.microsoft.com/office/drawing/2014/main" id="{F726C837-80A1-496A-94C3-E75C1D7D75FA}"/>
              </a:ext>
            </a:extLst>
          </p:cNvPr>
          <p:cNvSpPr>
            <a:spLocks xmlns:a="http://schemas.openxmlformats.org/drawingml/2006/main" noGrp="1"/>
          </p:cNvSpPr>
          <p:nvPr/>
        </p:nvSpPr>
        <p:spPr>
          <a:xfrm xmlns:a="http://schemas.openxmlformats.org/drawingml/2006/main">
            <a:off x="609600" y="3762375"/>
            <a:ext cx="5810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D34"/>
                </a:solidFill>
                <a:latin typeface="Helvetica Neue"/>
                <a:ea typeface="Helvetica Neue"/>
                <a:cs typeface="Helvetica Neue"/>
              </a:defRPr>
            </a:defPPr>
            <a:lvl1pPr>
              <a:defRPr sz="2550" b="0">
                <a:solidFill>
                  <a:srgbClr val="243D34"/>
                </a:solidFill>
                <a:latin typeface="Helvetica Neue"/>
                <a:ea typeface="Helvetica Neue"/>
                <a:cs typeface="Helvetica Neue"/>
              </a:defRPr>
            </a:lvl1pPr>
            <a:lvl2pPr>
              <a:defRPr sz="2550" b="0">
                <a:solidFill>
                  <a:srgbClr val="243D34"/>
                </a:solidFill>
                <a:latin typeface="Helvetica Neue"/>
                <a:ea typeface="Helvetica Neue"/>
                <a:cs typeface="Helvetica Neue"/>
              </a:defRPr>
            </a:lvl2pPr>
            <a:lvl3pPr>
              <a:defRPr sz="2550" b="0">
                <a:solidFill>
                  <a:srgbClr val="243D34"/>
                </a:solidFill>
                <a:latin typeface="Helvetica Neue"/>
                <a:ea typeface="Helvetica Neue"/>
                <a:cs typeface="Helvetica Neue"/>
              </a:defRPr>
            </a:lvl3pPr>
            <a:lvl4pPr>
              <a:defRPr sz="2550" b="0">
                <a:solidFill>
                  <a:srgbClr val="243D34"/>
                </a:solidFill>
                <a:latin typeface="Helvetica Neue"/>
                <a:ea typeface="Helvetica Neue"/>
                <a:cs typeface="Helvetica Neue"/>
              </a:defRPr>
            </a:lvl4pPr>
            <a:lvl5pPr>
              <a:defRPr sz="2550" b="0">
                <a:solidFill>
                  <a:srgbClr val="243D34"/>
                </a:solidFill>
                <a:latin typeface="Helvetica Neue"/>
                <a:ea typeface="Helvetica Neue"/>
                <a:cs typeface="Helvetica Neue"/>
              </a:defRPr>
            </a:lvl5pPr>
            <a:lvl6pPr>
              <a:defRPr sz="2550" b="0">
                <a:solidFill>
                  <a:srgbClr val="243D34"/>
                </a:solidFill>
                <a:latin typeface="Helvetica Neue"/>
                <a:ea typeface="Helvetica Neue"/>
                <a:cs typeface="Helvetica Neue"/>
              </a:defRPr>
            </a:lvl6pPr>
            <a:lvl7pPr>
              <a:defRPr sz="2550" b="0">
                <a:solidFill>
                  <a:srgbClr val="243D34"/>
                </a:solidFill>
                <a:latin typeface="Helvetica Neue"/>
                <a:ea typeface="Helvetica Neue"/>
                <a:cs typeface="Helvetica Neue"/>
              </a:defRPr>
            </a:lvl7pPr>
            <a:lvl8pPr>
              <a:defRPr sz="2550" b="0">
                <a:solidFill>
                  <a:srgbClr val="243D34"/>
                </a:solidFill>
                <a:latin typeface="Helvetica Neue"/>
                <a:ea typeface="Helvetica Neue"/>
                <a:cs typeface="Helvetica Neue"/>
              </a:defRPr>
            </a:lvl8pPr>
            <a:lvl9pPr>
              <a:defRPr sz="2550" b="0">
                <a:solidFill>
                  <a:srgbClr val="243D34"/>
                </a:solidFill>
                <a:latin typeface="Helvetica Neue"/>
                <a:ea typeface="Helvetica Neue"/>
                <a:cs typeface="Helvetica Neue"/>
              </a:defRPr>
            </a:lvl9pPr>
          </a:lstStyle>
          <a:p xmlns:a="http://schemas.openxmlformats.org/drawingml/2006/main">
            <a:pPr>
              <a:defRPr sz="2550" b="0">
                <a:solidFill>
                  <a:srgbClr val="243D34"/>
                </a:solidFill>
                <a:latin typeface="Helvetica Neue"/>
                <a:ea typeface="Helvetica Neue"/>
                <a:cs typeface="Helvetica Neue"/>
              </a:defRPr>
            </a:pPr>
            <a:r>
              <a:rPr sz="2550" b="0">
                <a:solidFill>
                  <a:srgbClr val="243D34"/>
                </a:solidFill>
                <a:latin typeface="Helvetica Neue"/>
                <a:ea typeface="Helvetica Neue"/>
                <a:cs typeface="Helvetica Neue"/>
              </a:rPr>
              <a:t>103 Python checks</a:t>
            </a:r>
          </a:p>
          <a:p xmlns:a="http://schemas.openxmlformats.org/drawingml/2006/main">
            <a:pPr>
              <a:defRPr sz="2550" b="0">
                <a:solidFill>
                  <a:srgbClr val="243D34"/>
                </a:solidFill>
                <a:latin typeface="Helvetica Neue"/>
                <a:ea typeface="Helvetica Neue"/>
                <a:cs typeface="Helvetica Neue"/>
              </a:defRPr>
            </a:pPr>
            <a:r>
              <a:rPr sz="2550" b="0">
                <a:solidFill>
                  <a:srgbClr val="243D34"/>
                </a:solidFill>
                <a:latin typeface="Helvetica Neue"/>
                <a:ea typeface="Helvetica Neue"/>
                <a:cs typeface="Helvetica Neue"/>
              </a:rPr>
              <a:t>140 synthetic integrity cases</a:t>
            </a:r>
          </a:p>
        </p:txBody>
      </p:sp>
      <p:sp>
        <p:nvSpPr>
          <p:cNvPr id="5" name="">
            <a:extLst xmlns:a="http://schemas.openxmlformats.org/drawingml/2006/main">
              <a:ext uri="{FF2B5EF4-FFF2-40B4-BE49-F238E27FC236}">
                <a16:creationId xmlns:a16="http://schemas.microsoft.com/office/drawing/2014/main" id="{6EE913B1-145B-4519-BCA3-E2502C9AFB25}"/>
              </a:ext>
            </a:extLst>
          </p:cNvPr>
          <p:cNvSpPr>
            <a:spLocks xmlns:a="http://schemas.openxmlformats.org/drawingml/2006/main" noGrp="1"/>
          </p:cNvSpPr>
          <p:nvPr/>
        </p:nvSpPr>
        <p:spPr>
          <a:xfrm xmlns:a="http://schemas.openxmlformats.org/drawingml/2006/main">
            <a:off x="6858000" y="3790950"/>
            <a:ext cx="4714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35B"/>
                </a:solidFill>
                <a:latin typeface="Helvetica Neue"/>
                <a:ea typeface="Helvetica Neue"/>
                <a:cs typeface="Helvetica Neue"/>
              </a:defRPr>
            </a:defPPr>
            <a:lvl1pPr>
              <a:defRPr sz="2100" b="0">
                <a:solidFill>
                  <a:srgbClr val="52635B"/>
                </a:solidFill>
                <a:latin typeface="Helvetica Neue"/>
                <a:ea typeface="Helvetica Neue"/>
                <a:cs typeface="Helvetica Neue"/>
              </a:defRPr>
            </a:lvl1pPr>
            <a:lvl2pPr>
              <a:defRPr sz="2100" b="0">
                <a:solidFill>
                  <a:srgbClr val="52635B"/>
                </a:solidFill>
                <a:latin typeface="Helvetica Neue"/>
                <a:ea typeface="Helvetica Neue"/>
                <a:cs typeface="Helvetica Neue"/>
              </a:defRPr>
            </a:lvl2pPr>
            <a:lvl3pPr>
              <a:defRPr sz="2100" b="0">
                <a:solidFill>
                  <a:srgbClr val="52635B"/>
                </a:solidFill>
                <a:latin typeface="Helvetica Neue"/>
                <a:ea typeface="Helvetica Neue"/>
                <a:cs typeface="Helvetica Neue"/>
              </a:defRPr>
            </a:lvl3pPr>
            <a:lvl4pPr>
              <a:defRPr sz="2100" b="0">
                <a:solidFill>
                  <a:srgbClr val="52635B"/>
                </a:solidFill>
                <a:latin typeface="Helvetica Neue"/>
                <a:ea typeface="Helvetica Neue"/>
                <a:cs typeface="Helvetica Neue"/>
              </a:defRPr>
            </a:lvl4pPr>
            <a:lvl5pPr>
              <a:defRPr sz="2100" b="0">
                <a:solidFill>
                  <a:srgbClr val="52635B"/>
                </a:solidFill>
                <a:latin typeface="Helvetica Neue"/>
                <a:ea typeface="Helvetica Neue"/>
                <a:cs typeface="Helvetica Neue"/>
              </a:defRPr>
            </a:lvl5pPr>
            <a:lvl6pPr>
              <a:defRPr sz="2100" b="0">
                <a:solidFill>
                  <a:srgbClr val="52635B"/>
                </a:solidFill>
                <a:latin typeface="Helvetica Neue"/>
                <a:ea typeface="Helvetica Neue"/>
                <a:cs typeface="Helvetica Neue"/>
              </a:defRPr>
            </a:lvl6pPr>
            <a:lvl7pPr>
              <a:defRPr sz="2100" b="0">
                <a:solidFill>
                  <a:srgbClr val="52635B"/>
                </a:solidFill>
                <a:latin typeface="Helvetica Neue"/>
                <a:ea typeface="Helvetica Neue"/>
                <a:cs typeface="Helvetica Neue"/>
              </a:defRPr>
            </a:lvl7pPr>
            <a:lvl8pPr>
              <a:defRPr sz="2100" b="0">
                <a:solidFill>
                  <a:srgbClr val="52635B"/>
                </a:solidFill>
                <a:latin typeface="Helvetica Neue"/>
                <a:ea typeface="Helvetica Neue"/>
                <a:cs typeface="Helvetica Neue"/>
              </a:defRPr>
            </a:lvl8pPr>
            <a:lvl9pPr>
              <a:defRPr sz="2100" b="0">
                <a:solidFill>
                  <a:srgbClr val="52635B"/>
                </a:solidFill>
                <a:latin typeface="Helvetica Neue"/>
                <a:ea typeface="Helvetica Neue"/>
                <a:cs typeface="Helvetica Neue"/>
              </a:defRPr>
            </a:lvl9pPr>
          </a:lstStyle>
          <a:p xmlns:a="http://schemas.openxmlformats.org/drawingml/2006/main">
            <a:pPr>
              <a:defRPr sz="2100" b="0">
                <a:solidFill>
                  <a:srgbClr val="52635B"/>
                </a:solidFill>
                <a:latin typeface="Helvetica Neue"/>
                <a:ea typeface="Helvetica Neue"/>
                <a:cs typeface="Helvetica Neue"/>
              </a:defRPr>
            </a:pPr>
            <a:r>
              <a:rPr sz="2100" b="0">
                <a:solidFill>
                  <a:srgbClr val="52635B"/>
                </a:solidFill>
                <a:latin typeface="Helvetica Neue"/>
                <a:ea typeface="Helvetica Neue"/>
                <a:cs typeface="Helvetica Neue"/>
              </a:rPr>
              <a:t>Live AI: one completed review</a:t>
            </a:r>
          </a:p>
          <a:p xmlns:a="http://schemas.openxmlformats.org/drawingml/2006/main">
            <a:pPr>
              <a:defRPr sz="2100" b="0">
                <a:solidFill>
                  <a:srgbClr val="52635B"/>
                </a:solidFill>
                <a:latin typeface="Helvetica Neue"/>
                <a:ea typeface="Helvetica Neue"/>
                <a:cs typeface="Helvetica Neue"/>
              </a:defRPr>
            </a:pPr>
            <a:r>
              <a:rPr sz="2100" b="0">
                <a:solidFill>
                  <a:srgbClr val="52635B"/>
                </a:solidFill>
                <a:latin typeface="Helvetica Neue"/>
                <a:ea typeface="Helvetica Neue"/>
                <a:cs typeface="Helvetica Neue"/>
              </a:rPr>
              <a:t>Later browser run: invalid output rejected</a:t>
            </a:r>
          </a:p>
        </p:txBody>
      </p:sp>
      <p:sp>
        <p:nvSpPr>
          <p:cNvPr id="6" name="">
            <a:extLst xmlns:a="http://schemas.openxmlformats.org/drawingml/2006/main">
              <a:ext uri="{FF2B5EF4-FFF2-40B4-BE49-F238E27FC236}">
                <a16:creationId xmlns:a16="http://schemas.microsoft.com/office/drawing/2014/main" id="{6BE7296B-D028-4416-95C2-EB8FB4385F7E}"/>
              </a:ext>
            </a:extLst>
          </p:cNvPr>
          <p:cNvSpPr>
            <a:spLocks xmlns:a="http://schemas.openxmlformats.org/drawingml/2006/main" noGrp="1"/>
          </p:cNvSpPr>
          <p:nvPr/>
        </p:nvSpPr>
        <p:spPr>
          <a:xfrm xmlns:a="http://schemas.openxmlformats.org/drawingml/2006/main">
            <a:off x="609600" y="57912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35B"/>
                </a:solidFill>
                <a:latin typeface="Helvetica Neue"/>
                <a:ea typeface="Helvetica Neue"/>
                <a:cs typeface="Helvetica Neue"/>
              </a:defRPr>
            </a:defPPr>
            <a:lvl1pPr>
              <a:defRPr sz="2025" b="0">
                <a:solidFill>
                  <a:srgbClr val="52635B"/>
                </a:solidFill>
                <a:latin typeface="Helvetica Neue"/>
                <a:ea typeface="Helvetica Neue"/>
                <a:cs typeface="Helvetica Neue"/>
              </a:defRPr>
            </a:lvl1pPr>
            <a:lvl2pPr>
              <a:defRPr sz="2025" b="0">
                <a:solidFill>
                  <a:srgbClr val="52635B"/>
                </a:solidFill>
                <a:latin typeface="Helvetica Neue"/>
                <a:ea typeface="Helvetica Neue"/>
                <a:cs typeface="Helvetica Neue"/>
              </a:defRPr>
            </a:lvl2pPr>
            <a:lvl3pPr>
              <a:defRPr sz="2025" b="0">
                <a:solidFill>
                  <a:srgbClr val="52635B"/>
                </a:solidFill>
                <a:latin typeface="Helvetica Neue"/>
                <a:ea typeface="Helvetica Neue"/>
                <a:cs typeface="Helvetica Neue"/>
              </a:defRPr>
            </a:lvl3pPr>
            <a:lvl4pPr>
              <a:defRPr sz="2025" b="0">
                <a:solidFill>
                  <a:srgbClr val="52635B"/>
                </a:solidFill>
                <a:latin typeface="Helvetica Neue"/>
                <a:ea typeface="Helvetica Neue"/>
                <a:cs typeface="Helvetica Neue"/>
              </a:defRPr>
            </a:lvl4pPr>
            <a:lvl5pPr>
              <a:defRPr sz="2025" b="0">
                <a:solidFill>
                  <a:srgbClr val="52635B"/>
                </a:solidFill>
                <a:latin typeface="Helvetica Neue"/>
                <a:ea typeface="Helvetica Neue"/>
                <a:cs typeface="Helvetica Neue"/>
              </a:defRPr>
            </a:lvl5pPr>
            <a:lvl6pPr>
              <a:defRPr sz="2025" b="0">
                <a:solidFill>
                  <a:srgbClr val="52635B"/>
                </a:solidFill>
                <a:latin typeface="Helvetica Neue"/>
                <a:ea typeface="Helvetica Neue"/>
                <a:cs typeface="Helvetica Neue"/>
              </a:defRPr>
            </a:lvl6pPr>
            <a:lvl7pPr>
              <a:defRPr sz="2025" b="0">
                <a:solidFill>
                  <a:srgbClr val="52635B"/>
                </a:solidFill>
                <a:latin typeface="Helvetica Neue"/>
                <a:ea typeface="Helvetica Neue"/>
                <a:cs typeface="Helvetica Neue"/>
              </a:defRPr>
            </a:lvl7pPr>
            <a:lvl8pPr>
              <a:defRPr sz="2025" b="0">
                <a:solidFill>
                  <a:srgbClr val="52635B"/>
                </a:solidFill>
                <a:latin typeface="Helvetica Neue"/>
                <a:ea typeface="Helvetica Neue"/>
                <a:cs typeface="Helvetica Neue"/>
              </a:defRPr>
            </a:lvl8pPr>
            <a:lvl9pPr>
              <a:defRPr sz="2025" b="0">
                <a:solidFill>
                  <a:srgbClr val="52635B"/>
                </a:solidFill>
                <a:latin typeface="Helvetica Neue"/>
                <a:ea typeface="Helvetica Neue"/>
                <a:cs typeface="Helvetica Neue"/>
              </a:defRPr>
            </a:lvl9pPr>
          </a:lstStyle>
          <a:p xmlns:a="http://schemas.openxmlformats.org/drawingml/2006/main">
            <a:pPr>
              <a:defRPr sz="2025" b="0">
                <a:solidFill>
                  <a:srgbClr val="52635B"/>
                </a:solidFill>
                <a:latin typeface="Helvetica Neue"/>
                <a:ea typeface="Helvetica Neue"/>
                <a:cs typeface="Helvetica Neue"/>
              </a:defRPr>
            </a:pPr>
            <a:r>
              <a:rPr sz="2025" b="0">
                <a:solidFill>
                  <a:srgbClr val="52635B"/>
                </a:solidFill>
                <a:latin typeface="Helvetica Neue"/>
                <a:ea typeface="Helvetica Neue"/>
                <a:cs typeface="Helvetica Neue"/>
              </a:rPr>
              <a:t>Biological validity and AI usefulness remain unestablished.</a:t>
            </a:r>
          </a:p>
        </p:txBody>
      </p:sp>
    </p:spTree>
    <p:extLst>
      <p:ext uri="{BB962C8B-B14F-4D97-AF65-F5344CB8AC3E}">
        <p14:creationId xmlns:p14="http://schemas.microsoft.com/office/powerpoint/2010/main" val="820431876"/>
      </p:ext>
    </p:extLst>
  </p:cSld>
</p:sld>
</file>

<file path=ppt/slides/slide6.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EFFA65-7DE1-4F3C-B493-F5A8FA1FA655}"/>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D34"/>
                </a:solidFill>
                <a:latin typeface="Helvetica Neue"/>
                <a:ea typeface="Helvetica Neue"/>
                <a:cs typeface="Helvetica Neue"/>
              </a:defRPr>
            </a:defPPr>
            <a:lvl1pPr>
              <a:defRPr sz="3600" b="1">
                <a:solidFill>
                  <a:srgbClr val="243D34"/>
                </a:solidFill>
                <a:latin typeface="Helvetica Neue"/>
                <a:ea typeface="Helvetica Neue"/>
                <a:cs typeface="Helvetica Neue"/>
              </a:defRPr>
            </a:lvl1pPr>
            <a:lvl2pPr>
              <a:defRPr sz="3600" b="1">
                <a:solidFill>
                  <a:srgbClr val="243D34"/>
                </a:solidFill>
                <a:latin typeface="Helvetica Neue"/>
                <a:ea typeface="Helvetica Neue"/>
                <a:cs typeface="Helvetica Neue"/>
              </a:defRPr>
            </a:lvl2pPr>
            <a:lvl3pPr>
              <a:defRPr sz="3600" b="1">
                <a:solidFill>
                  <a:srgbClr val="243D34"/>
                </a:solidFill>
                <a:latin typeface="Helvetica Neue"/>
                <a:ea typeface="Helvetica Neue"/>
                <a:cs typeface="Helvetica Neue"/>
              </a:defRPr>
            </a:lvl3pPr>
            <a:lvl4pPr>
              <a:defRPr sz="3600" b="1">
                <a:solidFill>
                  <a:srgbClr val="243D34"/>
                </a:solidFill>
                <a:latin typeface="Helvetica Neue"/>
                <a:ea typeface="Helvetica Neue"/>
                <a:cs typeface="Helvetica Neue"/>
              </a:defRPr>
            </a:lvl4pPr>
            <a:lvl5pPr>
              <a:defRPr sz="3600" b="1">
                <a:solidFill>
                  <a:srgbClr val="243D34"/>
                </a:solidFill>
                <a:latin typeface="Helvetica Neue"/>
                <a:ea typeface="Helvetica Neue"/>
                <a:cs typeface="Helvetica Neue"/>
              </a:defRPr>
            </a:lvl5pPr>
            <a:lvl6pPr>
              <a:defRPr sz="3600" b="1">
                <a:solidFill>
                  <a:srgbClr val="243D34"/>
                </a:solidFill>
                <a:latin typeface="Helvetica Neue"/>
                <a:ea typeface="Helvetica Neue"/>
                <a:cs typeface="Helvetica Neue"/>
              </a:defRPr>
            </a:lvl6pPr>
            <a:lvl7pPr>
              <a:defRPr sz="3600" b="1">
                <a:solidFill>
                  <a:srgbClr val="243D34"/>
                </a:solidFill>
                <a:latin typeface="Helvetica Neue"/>
                <a:ea typeface="Helvetica Neue"/>
                <a:cs typeface="Helvetica Neue"/>
              </a:defRPr>
            </a:lvl7pPr>
            <a:lvl8pPr>
              <a:defRPr sz="3600" b="1">
                <a:solidFill>
                  <a:srgbClr val="243D34"/>
                </a:solidFill>
                <a:latin typeface="Helvetica Neue"/>
                <a:ea typeface="Helvetica Neue"/>
                <a:cs typeface="Helvetica Neue"/>
              </a:defRPr>
            </a:lvl8pPr>
            <a:lvl9pPr>
              <a:defRPr sz="3600" b="1">
                <a:solidFill>
                  <a:srgbClr val="243D34"/>
                </a:solidFill>
                <a:latin typeface="Helvetica Neue"/>
                <a:ea typeface="Helvetica Neue"/>
                <a:cs typeface="Helvetica Neue"/>
              </a:defRPr>
            </a:lvl9pPr>
          </a:lstStyle>
          <a:p xmlns:a="http://schemas.openxmlformats.org/drawingml/2006/main">
            <a:pPr>
              <a:defRPr sz="3600" b="1">
                <a:solidFill>
                  <a:srgbClr val="243D34"/>
                </a:solidFill>
                <a:latin typeface="Helvetica Neue"/>
                <a:ea typeface="Helvetica Neue"/>
                <a:cs typeface="Helvetica Neue"/>
              </a:defRPr>
            </a:pPr>
            <a:r>
              <a:rPr sz="3600" b="1">
                <a:solidFill>
                  <a:srgbClr val="243D34"/>
                </a:solidFill>
                <a:latin typeface="Helvetica Neue"/>
                <a:ea typeface="Helvetica Neue"/>
                <a:cs typeface="Helvetica Neue"/>
              </a:rPr>
              <a:t>A decision the researcher can inspect</a:t>
            </a:r>
          </a:p>
        </p:txBody>
      </p:sp>
      <p:sp>
        <p:nvSpPr>
          <p:cNvPr id="2" name="">
            <a:extLst xmlns:a="http://schemas.openxmlformats.org/drawingml/2006/main">
              <a:ext uri="{FF2B5EF4-FFF2-40B4-BE49-F238E27FC236}">
                <a16:creationId xmlns:a16="http://schemas.microsoft.com/office/drawing/2014/main" id="{51A9672F-BEB6-4614-903A-B65A2665F092}"/>
              </a:ext>
            </a:extLst>
          </p:cNvPr>
          <p:cNvSpPr>
            <a:spLocks xmlns:a="http://schemas.openxmlformats.org/drawingml/2006/main" noGrp="1"/>
          </p:cNvSpPr>
          <p:nvPr/>
        </p:nvSpPr>
        <p:spPr>
          <a:xfrm xmlns:a="http://schemas.openxmlformats.org/drawingml/2006/main">
            <a:off x="609600" y="18573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43D34"/>
                </a:solidFill>
                <a:latin typeface="Helvetica Neue"/>
                <a:ea typeface="Helvetica Neue"/>
                <a:cs typeface="Helvetica Neue"/>
              </a:defRPr>
            </a:defPPr>
            <a:lvl1pPr>
              <a:defRPr sz="2700" b="1">
                <a:solidFill>
                  <a:srgbClr val="243D34"/>
                </a:solidFill>
                <a:latin typeface="Helvetica Neue"/>
                <a:ea typeface="Helvetica Neue"/>
                <a:cs typeface="Helvetica Neue"/>
              </a:defRPr>
            </a:lvl1pPr>
            <a:lvl2pPr>
              <a:defRPr sz="2700" b="1">
                <a:solidFill>
                  <a:srgbClr val="243D34"/>
                </a:solidFill>
                <a:latin typeface="Helvetica Neue"/>
                <a:ea typeface="Helvetica Neue"/>
                <a:cs typeface="Helvetica Neue"/>
              </a:defRPr>
            </a:lvl2pPr>
            <a:lvl3pPr>
              <a:defRPr sz="2700" b="1">
                <a:solidFill>
                  <a:srgbClr val="243D34"/>
                </a:solidFill>
                <a:latin typeface="Helvetica Neue"/>
                <a:ea typeface="Helvetica Neue"/>
                <a:cs typeface="Helvetica Neue"/>
              </a:defRPr>
            </a:lvl3pPr>
            <a:lvl4pPr>
              <a:defRPr sz="2700" b="1">
                <a:solidFill>
                  <a:srgbClr val="243D34"/>
                </a:solidFill>
                <a:latin typeface="Helvetica Neue"/>
                <a:ea typeface="Helvetica Neue"/>
                <a:cs typeface="Helvetica Neue"/>
              </a:defRPr>
            </a:lvl4pPr>
            <a:lvl5pPr>
              <a:defRPr sz="2700" b="1">
                <a:solidFill>
                  <a:srgbClr val="243D34"/>
                </a:solidFill>
                <a:latin typeface="Helvetica Neue"/>
                <a:ea typeface="Helvetica Neue"/>
                <a:cs typeface="Helvetica Neue"/>
              </a:defRPr>
            </a:lvl5pPr>
            <a:lvl6pPr>
              <a:defRPr sz="2700" b="1">
                <a:solidFill>
                  <a:srgbClr val="243D34"/>
                </a:solidFill>
                <a:latin typeface="Helvetica Neue"/>
                <a:ea typeface="Helvetica Neue"/>
                <a:cs typeface="Helvetica Neue"/>
              </a:defRPr>
            </a:lvl6pPr>
            <a:lvl7pPr>
              <a:defRPr sz="2700" b="1">
                <a:solidFill>
                  <a:srgbClr val="243D34"/>
                </a:solidFill>
                <a:latin typeface="Helvetica Neue"/>
                <a:ea typeface="Helvetica Neue"/>
                <a:cs typeface="Helvetica Neue"/>
              </a:defRPr>
            </a:lvl7pPr>
            <a:lvl8pPr>
              <a:defRPr sz="2700" b="1">
                <a:solidFill>
                  <a:srgbClr val="243D34"/>
                </a:solidFill>
                <a:latin typeface="Helvetica Neue"/>
                <a:ea typeface="Helvetica Neue"/>
                <a:cs typeface="Helvetica Neue"/>
              </a:defRPr>
            </a:lvl8pPr>
            <a:lvl9pPr>
              <a:defRPr sz="2700" b="1">
                <a:solidFill>
                  <a:srgbClr val="243D34"/>
                </a:solidFill>
                <a:latin typeface="Helvetica Neue"/>
                <a:ea typeface="Helvetica Neue"/>
                <a:cs typeface="Helvetica Neue"/>
              </a:defRPr>
            </a:lvl9pPr>
          </a:lstStyle>
          <a:p xmlns:a="http://schemas.openxmlformats.org/drawingml/2006/main">
            <a:pPr>
              <a:defRPr sz="2700" b="1">
                <a:solidFill>
                  <a:srgbClr val="243D34"/>
                </a:solidFill>
                <a:latin typeface="Helvetica Neue"/>
                <a:ea typeface="Helvetica Neue"/>
                <a:cs typeface="Helvetica Neue"/>
              </a:defRPr>
            </a:pPr>
            <a:r>
              <a:rPr sz="2700" b="1">
                <a:solidFill>
                  <a:srgbClr val="243D34"/>
                </a:solidFill>
                <a:latin typeface="Helvetica Neue"/>
                <a:ea typeface="Helvetica Neue"/>
                <a:cs typeface="Helvetica Neue"/>
              </a:rPr>
              <a:t>Try the synthetic examples</a:t>
            </a:r>
          </a:p>
        </p:txBody>
      </p:sp>
      <p:sp>
        <p:nvSpPr>
          <p:cNvPr id="3" name="">
            <a:extLst xmlns:a="http://schemas.openxmlformats.org/drawingml/2006/main">
              <a:ext uri="{FF2B5EF4-FFF2-40B4-BE49-F238E27FC236}">
                <a16:creationId xmlns:a16="http://schemas.microsoft.com/office/drawing/2014/main" id="{9C68DFD9-1294-4CCF-9D46-DF3CC091917C}"/>
              </a:ext>
            </a:extLst>
          </p:cNvPr>
          <p:cNvSpPr>
            <a:spLocks xmlns:a="http://schemas.openxmlformats.org/drawingml/2006/main" noGrp="1"/>
          </p:cNvSpPr>
          <p:nvPr/>
        </p:nvSpPr>
        <p:spPr>
          <a:xfrm xmlns:a="http://schemas.openxmlformats.org/drawingml/2006/main">
            <a:off x="609600" y="27717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243D34"/>
                </a:solidFill>
                <a:latin typeface="Helvetica Neue"/>
                <a:ea typeface="Helvetica Neue"/>
                <a:cs typeface="Helvetica Neue"/>
              </a:defRPr>
            </a:defPPr>
            <a:lvl1pPr>
              <a:defRPr sz="2700" b="0">
                <a:solidFill>
                  <a:srgbClr val="243D34"/>
                </a:solidFill>
                <a:latin typeface="Helvetica Neue"/>
                <a:ea typeface="Helvetica Neue"/>
                <a:cs typeface="Helvetica Neue"/>
              </a:defRPr>
            </a:lvl1pPr>
            <a:lvl2pPr>
              <a:defRPr sz="2700" b="0">
                <a:solidFill>
                  <a:srgbClr val="243D34"/>
                </a:solidFill>
                <a:latin typeface="Helvetica Neue"/>
                <a:ea typeface="Helvetica Neue"/>
                <a:cs typeface="Helvetica Neue"/>
              </a:defRPr>
            </a:lvl2pPr>
            <a:lvl3pPr>
              <a:defRPr sz="2700" b="0">
                <a:solidFill>
                  <a:srgbClr val="243D34"/>
                </a:solidFill>
                <a:latin typeface="Helvetica Neue"/>
                <a:ea typeface="Helvetica Neue"/>
                <a:cs typeface="Helvetica Neue"/>
              </a:defRPr>
            </a:lvl3pPr>
            <a:lvl4pPr>
              <a:defRPr sz="2700" b="0">
                <a:solidFill>
                  <a:srgbClr val="243D34"/>
                </a:solidFill>
                <a:latin typeface="Helvetica Neue"/>
                <a:ea typeface="Helvetica Neue"/>
                <a:cs typeface="Helvetica Neue"/>
              </a:defRPr>
            </a:lvl4pPr>
            <a:lvl5pPr>
              <a:defRPr sz="2700" b="0">
                <a:solidFill>
                  <a:srgbClr val="243D34"/>
                </a:solidFill>
                <a:latin typeface="Helvetica Neue"/>
                <a:ea typeface="Helvetica Neue"/>
                <a:cs typeface="Helvetica Neue"/>
              </a:defRPr>
            </a:lvl5pPr>
            <a:lvl6pPr>
              <a:defRPr sz="2700" b="0">
                <a:solidFill>
                  <a:srgbClr val="243D34"/>
                </a:solidFill>
                <a:latin typeface="Helvetica Neue"/>
                <a:ea typeface="Helvetica Neue"/>
                <a:cs typeface="Helvetica Neue"/>
              </a:defRPr>
            </a:lvl6pPr>
            <a:lvl7pPr>
              <a:defRPr sz="2700" b="0">
                <a:solidFill>
                  <a:srgbClr val="243D34"/>
                </a:solidFill>
                <a:latin typeface="Helvetica Neue"/>
                <a:ea typeface="Helvetica Neue"/>
                <a:cs typeface="Helvetica Neue"/>
              </a:defRPr>
            </a:lvl7pPr>
            <a:lvl8pPr>
              <a:defRPr sz="2700" b="0">
                <a:solidFill>
                  <a:srgbClr val="243D34"/>
                </a:solidFill>
                <a:latin typeface="Helvetica Neue"/>
                <a:ea typeface="Helvetica Neue"/>
                <a:cs typeface="Helvetica Neue"/>
              </a:defRPr>
            </a:lvl8pPr>
            <a:lvl9pPr>
              <a:defRPr sz="2700" b="0">
                <a:solidFill>
                  <a:srgbClr val="243D34"/>
                </a:solidFill>
                <a:latin typeface="Helvetica Neue"/>
                <a:ea typeface="Helvetica Neue"/>
                <a:cs typeface="Helvetica Neue"/>
              </a:defRPr>
            </a:lvl9pPr>
          </a:lstStyle>
          <a:p xmlns:a="http://schemas.openxmlformats.org/drawingml/2006/main">
            <a:pPr>
              <a:defRPr sz="2700" b="0">
                <a:solidFill>
                  <a:srgbClr val="243D34"/>
                </a:solidFill>
                <a:latin typeface="Helvetica Neue"/>
                <a:ea typeface="Helvetica Neue"/>
                <a:cs typeface="Helvetica Neue"/>
              </a:defRPr>
            </a:pPr>
            <a:r>
              <a:rPr sz="2700" b="0">
                <a:solidFill>
                  <a:srgbClr val="243D34"/>
                </a:solidFill>
                <a:latin typeface="Helvetica Neue"/>
                <a:ea typeface="Helvetica Neue"/>
                <a:cs typeface="Helvetica Neue"/>
              </a:rPr>
              <a:t>second-look-qz70.onrender.com</a:t>
            </a:r>
          </a:p>
        </p:txBody>
      </p:sp>
      <p:sp>
        <p:nvSpPr>
          <p:cNvPr id="4" name="">
            <a:extLst xmlns:a="http://schemas.openxmlformats.org/drawingml/2006/main">
              <a:ext uri="{FF2B5EF4-FFF2-40B4-BE49-F238E27FC236}">
                <a16:creationId xmlns:a16="http://schemas.microsoft.com/office/drawing/2014/main" id="{199FE437-158A-4E95-A3EF-3EF4C840AFF7}"/>
              </a:ext>
            </a:extLst>
          </p:cNvPr>
          <p:cNvSpPr>
            <a:spLocks xmlns:a="http://schemas.openxmlformats.org/drawingml/2006/main" noGrp="1"/>
          </p:cNvSpPr>
          <p:nvPr/>
        </p:nvSpPr>
        <p:spPr>
          <a:xfrm xmlns:a="http://schemas.openxmlformats.org/drawingml/2006/main">
            <a:off x="609600" y="40290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43D34"/>
                </a:solidFill>
                <a:latin typeface="Helvetica Neue"/>
                <a:ea typeface="Helvetica Neue"/>
                <a:cs typeface="Helvetica Neue"/>
              </a:defRPr>
            </a:defPPr>
            <a:lvl1pPr>
              <a:defRPr sz="2700" b="1">
                <a:solidFill>
                  <a:srgbClr val="243D34"/>
                </a:solidFill>
                <a:latin typeface="Helvetica Neue"/>
                <a:ea typeface="Helvetica Neue"/>
                <a:cs typeface="Helvetica Neue"/>
              </a:defRPr>
            </a:lvl1pPr>
            <a:lvl2pPr>
              <a:defRPr sz="2700" b="1">
                <a:solidFill>
                  <a:srgbClr val="243D34"/>
                </a:solidFill>
                <a:latin typeface="Helvetica Neue"/>
                <a:ea typeface="Helvetica Neue"/>
                <a:cs typeface="Helvetica Neue"/>
              </a:defRPr>
            </a:lvl2pPr>
            <a:lvl3pPr>
              <a:defRPr sz="2700" b="1">
                <a:solidFill>
                  <a:srgbClr val="243D34"/>
                </a:solidFill>
                <a:latin typeface="Helvetica Neue"/>
                <a:ea typeface="Helvetica Neue"/>
                <a:cs typeface="Helvetica Neue"/>
              </a:defRPr>
            </a:lvl3pPr>
            <a:lvl4pPr>
              <a:defRPr sz="2700" b="1">
                <a:solidFill>
                  <a:srgbClr val="243D34"/>
                </a:solidFill>
                <a:latin typeface="Helvetica Neue"/>
                <a:ea typeface="Helvetica Neue"/>
                <a:cs typeface="Helvetica Neue"/>
              </a:defRPr>
            </a:lvl4pPr>
            <a:lvl5pPr>
              <a:defRPr sz="2700" b="1">
                <a:solidFill>
                  <a:srgbClr val="243D34"/>
                </a:solidFill>
                <a:latin typeface="Helvetica Neue"/>
                <a:ea typeface="Helvetica Neue"/>
                <a:cs typeface="Helvetica Neue"/>
              </a:defRPr>
            </a:lvl5pPr>
            <a:lvl6pPr>
              <a:defRPr sz="2700" b="1">
                <a:solidFill>
                  <a:srgbClr val="243D34"/>
                </a:solidFill>
                <a:latin typeface="Helvetica Neue"/>
                <a:ea typeface="Helvetica Neue"/>
                <a:cs typeface="Helvetica Neue"/>
              </a:defRPr>
            </a:lvl6pPr>
            <a:lvl7pPr>
              <a:defRPr sz="2700" b="1">
                <a:solidFill>
                  <a:srgbClr val="243D34"/>
                </a:solidFill>
                <a:latin typeface="Helvetica Neue"/>
                <a:ea typeface="Helvetica Neue"/>
                <a:cs typeface="Helvetica Neue"/>
              </a:defRPr>
            </a:lvl7pPr>
            <a:lvl8pPr>
              <a:defRPr sz="2700" b="1">
                <a:solidFill>
                  <a:srgbClr val="243D34"/>
                </a:solidFill>
                <a:latin typeface="Helvetica Neue"/>
                <a:ea typeface="Helvetica Neue"/>
                <a:cs typeface="Helvetica Neue"/>
              </a:defRPr>
            </a:lvl8pPr>
            <a:lvl9pPr>
              <a:defRPr sz="2700" b="1">
                <a:solidFill>
                  <a:srgbClr val="243D34"/>
                </a:solidFill>
                <a:latin typeface="Helvetica Neue"/>
                <a:ea typeface="Helvetica Neue"/>
                <a:cs typeface="Helvetica Neue"/>
              </a:defRPr>
            </a:lvl9pPr>
          </a:lstStyle>
          <a:p xmlns:a="http://schemas.openxmlformats.org/drawingml/2006/main">
            <a:pPr>
              <a:defRPr sz="2700" b="1">
                <a:solidFill>
                  <a:srgbClr val="243D34"/>
                </a:solidFill>
                <a:latin typeface="Helvetica Neue"/>
                <a:ea typeface="Helvetica Neue"/>
                <a:cs typeface="Helvetica Neue"/>
              </a:defRPr>
            </a:pPr>
            <a:r>
              <a:rPr sz="2700" b="1">
                <a:solidFill>
                  <a:srgbClr val="243D34"/>
                </a:solidFill>
                <a:latin typeface="Helvetica Neue"/>
                <a:ea typeface="Helvetica Neue"/>
                <a:cs typeface="Helvetica Neue"/>
              </a:rPr>
              <a:t>Read the implementation</a:t>
            </a:r>
          </a:p>
        </p:txBody>
      </p:sp>
      <p:sp>
        <p:nvSpPr>
          <p:cNvPr id="5" name="">
            <a:extLst xmlns:a="http://schemas.openxmlformats.org/drawingml/2006/main">
              <a:ext uri="{FF2B5EF4-FFF2-40B4-BE49-F238E27FC236}">
                <a16:creationId xmlns:a16="http://schemas.microsoft.com/office/drawing/2014/main" id="{6E849C90-F2FB-4839-88C2-C3D7908554BF}"/>
              </a:ext>
            </a:extLst>
          </p:cNvPr>
          <p:cNvSpPr>
            <a:spLocks xmlns:a="http://schemas.openxmlformats.org/drawingml/2006/main" noGrp="1"/>
          </p:cNvSpPr>
          <p:nvPr/>
        </p:nvSpPr>
        <p:spPr>
          <a:xfrm xmlns:a="http://schemas.openxmlformats.org/drawingml/2006/main">
            <a:off x="609600" y="4943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D34"/>
                </a:solidFill>
                <a:latin typeface="Helvetica Neue"/>
                <a:ea typeface="Helvetica Neue"/>
                <a:cs typeface="Helvetica Neue"/>
              </a:defRPr>
            </a:defPPr>
            <a:lvl1pPr>
              <a:defRPr sz="2550" b="0">
                <a:solidFill>
                  <a:srgbClr val="243D34"/>
                </a:solidFill>
                <a:latin typeface="Helvetica Neue"/>
                <a:ea typeface="Helvetica Neue"/>
                <a:cs typeface="Helvetica Neue"/>
              </a:defRPr>
            </a:lvl1pPr>
            <a:lvl2pPr>
              <a:defRPr sz="2550" b="0">
                <a:solidFill>
                  <a:srgbClr val="243D34"/>
                </a:solidFill>
                <a:latin typeface="Helvetica Neue"/>
                <a:ea typeface="Helvetica Neue"/>
                <a:cs typeface="Helvetica Neue"/>
              </a:defRPr>
            </a:lvl2pPr>
            <a:lvl3pPr>
              <a:defRPr sz="2550" b="0">
                <a:solidFill>
                  <a:srgbClr val="243D34"/>
                </a:solidFill>
                <a:latin typeface="Helvetica Neue"/>
                <a:ea typeface="Helvetica Neue"/>
                <a:cs typeface="Helvetica Neue"/>
              </a:defRPr>
            </a:lvl3pPr>
            <a:lvl4pPr>
              <a:defRPr sz="2550" b="0">
                <a:solidFill>
                  <a:srgbClr val="243D34"/>
                </a:solidFill>
                <a:latin typeface="Helvetica Neue"/>
                <a:ea typeface="Helvetica Neue"/>
                <a:cs typeface="Helvetica Neue"/>
              </a:defRPr>
            </a:lvl4pPr>
            <a:lvl5pPr>
              <a:defRPr sz="2550" b="0">
                <a:solidFill>
                  <a:srgbClr val="243D34"/>
                </a:solidFill>
                <a:latin typeface="Helvetica Neue"/>
                <a:ea typeface="Helvetica Neue"/>
                <a:cs typeface="Helvetica Neue"/>
              </a:defRPr>
            </a:lvl5pPr>
            <a:lvl6pPr>
              <a:defRPr sz="2550" b="0">
                <a:solidFill>
                  <a:srgbClr val="243D34"/>
                </a:solidFill>
                <a:latin typeface="Helvetica Neue"/>
                <a:ea typeface="Helvetica Neue"/>
                <a:cs typeface="Helvetica Neue"/>
              </a:defRPr>
            </a:lvl6pPr>
            <a:lvl7pPr>
              <a:defRPr sz="2550" b="0">
                <a:solidFill>
                  <a:srgbClr val="243D34"/>
                </a:solidFill>
                <a:latin typeface="Helvetica Neue"/>
                <a:ea typeface="Helvetica Neue"/>
                <a:cs typeface="Helvetica Neue"/>
              </a:defRPr>
            </a:lvl7pPr>
            <a:lvl8pPr>
              <a:defRPr sz="2550" b="0">
                <a:solidFill>
                  <a:srgbClr val="243D34"/>
                </a:solidFill>
                <a:latin typeface="Helvetica Neue"/>
                <a:ea typeface="Helvetica Neue"/>
                <a:cs typeface="Helvetica Neue"/>
              </a:defRPr>
            </a:lvl8pPr>
            <a:lvl9pPr>
              <a:defRPr sz="2550" b="0">
                <a:solidFill>
                  <a:srgbClr val="243D34"/>
                </a:solidFill>
                <a:latin typeface="Helvetica Neue"/>
                <a:ea typeface="Helvetica Neue"/>
                <a:cs typeface="Helvetica Neue"/>
              </a:defRPr>
            </a:lvl9pPr>
          </a:lstStyle>
          <a:p xmlns:a="http://schemas.openxmlformats.org/drawingml/2006/main">
            <a:pPr>
              <a:defRPr sz="2550" b="0">
                <a:solidFill>
                  <a:srgbClr val="243D34"/>
                </a:solidFill>
                <a:latin typeface="Helvetica Neue"/>
                <a:ea typeface="Helvetica Neue"/>
                <a:cs typeface="Helvetica Neue"/>
              </a:defRPr>
            </a:pPr>
            <a:r>
              <a:rPr sz="2550" b="0">
                <a:solidFill>
                  <a:srgbClr val="243D34"/>
                </a:solidFill>
                <a:latin typeface="Helvetica Neue"/>
                <a:ea typeface="Helvetica Neue"/>
                <a:cs typeface="Helvetica Neue"/>
              </a:rPr>
              <a:t>github.com/BluePaper1122/second-look</a:t>
            </a:r>
          </a:p>
        </p:txBody>
      </p:sp>
    </p:spTree>
    <p:extLst>
      <p:ext uri="{BB962C8B-B14F-4D97-AF65-F5344CB8AC3E}">
        <p14:creationId xmlns:p14="http://schemas.microsoft.com/office/powerpoint/2010/main" val="2034093354"/>
      </p:ext>
    </p:extLst>
  </p:cSld>
</p:sld>
</file>

<file path=ppt/slides/slide7.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0914E3-7468-4CE3-BF40-B67E92CA0A0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D34"/>
                </a:solidFill>
                <a:latin typeface="Helvetica Neue"/>
                <a:ea typeface="Helvetica Neue"/>
                <a:cs typeface="Helvetica Neue"/>
              </a:defRPr>
            </a:defPPr>
            <a:lvl1pPr>
              <a:defRPr sz="3600" b="1">
                <a:solidFill>
                  <a:srgbClr val="243D34"/>
                </a:solidFill>
                <a:latin typeface="Helvetica Neue"/>
                <a:ea typeface="Helvetica Neue"/>
                <a:cs typeface="Helvetica Neue"/>
              </a:defRPr>
            </a:lvl1pPr>
            <a:lvl2pPr>
              <a:defRPr sz="3600" b="1">
                <a:solidFill>
                  <a:srgbClr val="243D34"/>
                </a:solidFill>
                <a:latin typeface="Helvetica Neue"/>
                <a:ea typeface="Helvetica Neue"/>
                <a:cs typeface="Helvetica Neue"/>
              </a:defRPr>
            </a:lvl2pPr>
            <a:lvl3pPr>
              <a:defRPr sz="3600" b="1">
                <a:solidFill>
                  <a:srgbClr val="243D34"/>
                </a:solidFill>
                <a:latin typeface="Helvetica Neue"/>
                <a:ea typeface="Helvetica Neue"/>
                <a:cs typeface="Helvetica Neue"/>
              </a:defRPr>
            </a:lvl3pPr>
            <a:lvl4pPr>
              <a:defRPr sz="3600" b="1">
                <a:solidFill>
                  <a:srgbClr val="243D34"/>
                </a:solidFill>
                <a:latin typeface="Helvetica Neue"/>
                <a:ea typeface="Helvetica Neue"/>
                <a:cs typeface="Helvetica Neue"/>
              </a:defRPr>
            </a:lvl4pPr>
            <a:lvl5pPr>
              <a:defRPr sz="3600" b="1">
                <a:solidFill>
                  <a:srgbClr val="243D34"/>
                </a:solidFill>
                <a:latin typeface="Helvetica Neue"/>
                <a:ea typeface="Helvetica Neue"/>
                <a:cs typeface="Helvetica Neue"/>
              </a:defRPr>
            </a:lvl5pPr>
            <a:lvl6pPr>
              <a:defRPr sz="3600" b="1">
                <a:solidFill>
                  <a:srgbClr val="243D34"/>
                </a:solidFill>
                <a:latin typeface="Helvetica Neue"/>
                <a:ea typeface="Helvetica Neue"/>
                <a:cs typeface="Helvetica Neue"/>
              </a:defRPr>
            </a:lvl6pPr>
            <a:lvl7pPr>
              <a:defRPr sz="3600" b="1">
                <a:solidFill>
                  <a:srgbClr val="243D34"/>
                </a:solidFill>
                <a:latin typeface="Helvetica Neue"/>
                <a:ea typeface="Helvetica Neue"/>
                <a:cs typeface="Helvetica Neue"/>
              </a:defRPr>
            </a:lvl7pPr>
            <a:lvl8pPr>
              <a:defRPr sz="3600" b="1">
                <a:solidFill>
                  <a:srgbClr val="243D34"/>
                </a:solidFill>
                <a:latin typeface="Helvetica Neue"/>
                <a:ea typeface="Helvetica Neue"/>
                <a:cs typeface="Helvetica Neue"/>
              </a:defRPr>
            </a:lvl8pPr>
            <a:lvl9pPr>
              <a:defRPr sz="3600" b="1">
                <a:solidFill>
                  <a:srgbClr val="243D34"/>
                </a:solidFill>
                <a:latin typeface="Helvetica Neue"/>
                <a:ea typeface="Helvetica Neue"/>
                <a:cs typeface="Helvetica Neue"/>
              </a:defRPr>
            </a:lvl9pPr>
          </a:lstStyle>
          <a:p xmlns:a="http://schemas.openxmlformats.org/drawingml/2006/main">
            <a:pPr>
              <a:defRPr sz="3600" b="1">
                <a:solidFill>
                  <a:srgbClr val="243D34"/>
                </a:solidFill>
                <a:latin typeface="Helvetica Neue"/>
                <a:ea typeface="Helvetica Neue"/>
                <a:cs typeface="Helvetica Neue"/>
              </a:defRPr>
            </a:pPr>
            <a:r>
              <a:rPr sz="3600" b="1">
                <a:solidFill>
                  <a:srgbClr val="243D34"/>
                </a:solidFill>
                <a:latin typeface="Helvetica Neue"/>
                <a:ea typeface="Helvetica Neue"/>
                <a:cs typeface="Helvetica Neue"/>
              </a:rPr>
              <a:t>Appendix: what the live test establishes</a:t>
            </a:r>
          </a:p>
        </p:txBody>
      </p:sp>
      <p:sp>
        <p:nvSpPr>
          <p:cNvPr id="2" name="">
            <a:extLst xmlns:a="http://schemas.openxmlformats.org/drawingml/2006/main">
              <a:ext uri="{FF2B5EF4-FFF2-40B4-BE49-F238E27FC236}">
                <a16:creationId xmlns:a16="http://schemas.microsoft.com/office/drawing/2014/main" id="{898F4D05-095C-4247-A901-51FDB187809D}"/>
              </a:ext>
            </a:extLst>
          </p:cNvPr>
          <p:cNvSpPr>
            <a:spLocks xmlns:a="http://schemas.openxmlformats.org/drawingml/2006/main" noGrp="1"/>
          </p:cNvSpPr>
          <p:nvPr/>
        </p:nvSpPr>
        <p:spPr>
          <a:xfrm xmlns:a="http://schemas.openxmlformats.org/drawingml/2006/main">
            <a:off x="609600" y="16668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43D34"/>
                </a:solidFill>
                <a:latin typeface="Helvetica Neue"/>
                <a:ea typeface="Helvetica Neue"/>
                <a:cs typeface="Helvetica Neue"/>
              </a:defRPr>
            </a:defPPr>
            <a:lvl1pPr>
              <a:defRPr sz="2700" b="1">
                <a:solidFill>
                  <a:srgbClr val="243D34"/>
                </a:solidFill>
                <a:latin typeface="Helvetica Neue"/>
                <a:ea typeface="Helvetica Neue"/>
                <a:cs typeface="Helvetica Neue"/>
              </a:defRPr>
            </a:lvl1pPr>
            <a:lvl2pPr>
              <a:defRPr sz="2700" b="1">
                <a:solidFill>
                  <a:srgbClr val="243D34"/>
                </a:solidFill>
                <a:latin typeface="Helvetica Neue"/>
                <a:ea typeface="Helvetica Neue"/>
                <a:cs typeface="Helvetica Neue"/>
              </a:defRPr>
            </a:lvl2pPr>
            <a:lvl3pPr>
              <a:defRPr sz="2700" b="1">
                <a:solidFill>
                  <a:srgbClr val="243D34"/>
                </a:solidFill>
                <a:latin typeface="Helvetica Neue"/>
                <a:ea typeface="Helvetica Neue"/>
                <a:cs typeface="Helvetica Neue"/>
              </a:defRPr>
            </a:lvl3pPr>
            <a:lvl4pPr>
              <a:defRPr sz="2700" b="1">
                <a:solidFill>
                  <a:srgbClr val="243D34"/>
                </a:solidFill>
                <a:latin typeface="Helvetica Neue"/>
                <a:ea typeface="Helvetica Neue"/>
                <a:cs typeface="Helvetica Neue"/>
              </a:defRPr>
            </a:lvl4pPr>
            <a:lvl5pPr>
              <a:defRPr sz="2700" b="1">
                <a:solidFill>
                  <a:srgbClr val="243D34"/>
                </a:solidFill>
                <a:latin typeface="Helvetica Neue"/>
                <a:ea typeface="Helvetica Neue"/>
                <a:cs typeface="Helvetica Neue"/>
              </a:defRPr>
            </a:lvl5pPr>
            <a:lvl6pPr>
              <a:defRPr sz="2700" b="1">
                <a:solidFill>
                  <a:srgbClr val="243D34"/>
                </a:solidFill>
                <a:latin typeface="Helvetica Neue"/>
                <a:ea typeface="Helvetica Neue"/>
                <a:cs typeface="Helvetica Neue"/>
              </a:defRPr>
            </a:lvl6pPr>
            <a:lvl7pPr>
              <a:defRPr sz="2700" b="1">
                <a:solidFill>
                  <a:srgbClr val="243D34"/>
                </a:solidFill>
                <a:latin typeface="Helvetica Neue"/>
                <a:ea typeface="Helvetica Neue"/>
                <a:cs typeface="Helvetica Neue"/>
              </a:defRPr>
            </a:lvl7pPr>
            <a:lvl8pPr>
              <a:defRPr sz="2700" b="1">
                <a:solidFill>
                  <a:srgbClr val="243D34"/>
                </a:solidFill>
                <a:latin typeface="Helvetica Neue"/>
                <a:ea typeface="Helvetica Neue"/>
                <a:cs typeface="Helvetica Neue"/>
              </a:defRPr>
            </a:lvl8pPr>
            <a:lvl9pPr>
              <a:defRPr sz="2700" b="1">
                <a:solidFill>
                  <a:srgbClr val="243D34"/>
                </a:solidFill>
                <a:latin typeface="Helvetica Neue"/>
                <a:ea typeface="Helvetica Neue"/>
                <a:cs typeface="Helvetica Neue"/>
              </a:defRPr>
            </a:lvl9pPr>
          </a:lstStyle>
          <a:p xmlns:a="http://schemas.openxmlformats.org/drawingml/2006/main">
            <a:pPr>
              <a:defRPr sz="2700" b="1">
                <a:solidFill>
                  <a:srgbClr val="243D34"/>
                </a:solidFill>
                <a:latin typeface="Helvetica Neue"/>
                <a:ea typeface="Helvetica Neue"/>
                <a:cs typeface="Helvetica Neue"/>
              </a:defRPr>
            </a:pPr>
            <a:r>
              <a:rPr sz="2700" b="1">
                <a:solidFill>
                  <a:srgbClr val="243D34"/>
                </a:solidFill>
                <a:latin typeface="Helvetica Neue"/>
                <a:ea typeface="Helvetica Neue"/>
                <a:cs typeface="Helvetica Neue"/>
              </a:rPr>
              <a:t>Verified</a:t>
            </a:r>
          </a:p>
        </p:txBody>
      </p:sp>
      <p:sp>
        <p:nvSpPr>
          <p:cNvPr id="3" name="">
            <a:extLst xmlns:a="http://schemas.openxmlformats.org/drawingml/2006/main">
              <a:ext uri="{FF2B5EF4-FFF2-40B4-BE49-F238E27FC236}">
                <a16:creationId xmlns:a16="http://schemas.microsoft.com/office/drawing/2014/main" id="{84017826-2263-4743-B7B4-CDF9E28DE4F6}"/>
              </a:ext>
            </a:extLst>
          </p:cNvPr>
          <p:cNvSpPr>
            <a:spLocks xmlns:a="http://schemas.openxmlformats.org/drawingml/2006/main" noGrp="1"/>
          </p:cNvSpPr>
          <p:nvPr/>
        </p:nvSpPr>
        <p:spPr>
          <a:xfrm xmlns:a="http://schemas.openxmlformats.org/drawingml/2006/main">
            <a:off x="609600" y="2571750"/>
            <a:ext cx="5095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D34"/>
                </a:solidFill>
                <a:latin typeface="Helvetica Neue"/>
                <a:ea typeface="Helvetica Neue"/>
                <a:cs typeface="Helvetica Neue"/>
              </a:defRPr>
            </a:defPPr>
            <a:lvl1pPr>
              <a:defRPr sz="2250" b="0">
                <a:solidFill>
                  <a:srgbClr val="243D34"/>
                </a:solidFill>
                <a:latin typeface="Helvetica Neue"/>
                <a:ea typeface="Helvetica Neue"/>
                <a:cs typeface="Helvetica Neue"/>
              </a:defRPr>
            </a:lvl1pPr>
            <a:lvl2pPr>
              <a:defRPr sz="2250" b="0">
                <a:solidFill>
                  <a:srgbClr val="243D34"/>
                </a:solidFill>
                <a:latin typeface="Helvetica Neue"/>
                <a:ea typeface="Helvetica Neue"/>
                <a:cs typeface="Helvetica Neue"/>
              </a:defRPr>
            </a:lvl2pPr>
            <a:lvl3pPr>
              <a:defRPr sz="2250" b="0">
                <a:solidFill>
                  <a:srgbClr val="243D34"/>
                </a:solidFill>
                <a:latin typeface="Helvetica Neue"/>
                <a:ea typeface="Helvetica Neue"/>
                <a:cs typeface="Helvetica Neue"/>
              </a:defRPr>
            </a:lvl3pPr>
            <a:lvl4pPr>
              <a:defRPr sz="2250" b="0">
                <a:solidFill>
                  <a:srgbClr val="243D34"/>
                </a:solidFill>
                <a:latin typeface="Helvetica Neue"/>
                <a:ea typeface="Helvetica Neue"/>
                <a:cs typeface="Helvetica Neue"/>
              </a:defRPr>
            </a:lvl4pPr>
            <a:lvl5pPr>
              <a:defRPr sz="2250" b="0">
                <a:solidFill>
                  <a:srgbClr val="243D34"/>
                </a:solidFill>
                <a:latin typeface="Helvetica Neue"/>
                <a:ea typeface="Helvetica Neue"/>
                <a:cs typeface="Helvetica Neue"/>
              </a:defRPr>
            </a:lvl5pPr>
            <a:lvl6pPr>
              <a:defRPr sz="2250" b="0">
                <a:solidFill>
                  <a:srgbClr val="243D34"/>
                </a:solidFill>
                <a:latin typeface="Helvetica Neue"/>
                <a:ea typeface="Helvetica Neue"/>
                <a:cs typeface="Helvetica Neue"/>
              </a:defRPr>
            </a:lvl6pPr>
            <a:lvl7pPr>
              <a:defRPr sz="2250" b="0">
                <a:solidFill>
                  <a:srgbClr val="243D34"/>
                </a:solidFill>
                <a:latin typeface="Helvetica Neue"/>
                <a:ea typeface="Helvetica Neue"/>
                <a:cs typeface="Helvetica Neue"/>
              </a:defRPr>
            </a:lvl7pPr>
            <a:lvl8pPr>
              <a:defRPr sz="2250" b="0">
                <a:solidFill>
                  <a:srgbClr val="243D34"/>
                </a:solidFill>
                <a:latin typeface="Helvetica Neue"/>
                <a:ea typeface="Helvetica Neue"/>
                <a:cs typeface="Helvetica Neue"/>
              </a:defRPr>
            </a:lvl8pPr>
            <a:lvl9pPr>
              <a:defRPr sz="2250" b="0">
                <a:solidFill>
                  <a:srgbClr val="243D34"/>
                </a:solidFill>
                <a:latin typeface="Helvetica Neue"/>
                <a:ea typeface="Helvetica Neue"/>
                <a:cs typeface="Helvetica Neue"/>
              </a:defRPr>
            </a:lvl9pPr>
          </a:lstStyle>
          <a:p xmlns:a="http://schemas.openxmlformats.org/drawingml/2006/main">
            <a:pPr>
              <a:defRPr sz="2250" b="0">
                <a:solidFill>
                  <a:srgbClr val="243D34"/>
                </a:solidFill>
                <a:latin typeface="Helvetica Neue"/>
                <a:ea typeface="Helvetica Neue"/>
                <a:cs typeface="Helvetica Neue"/>
              </a:defRPr>
            </a:pPr>
            <a:r>
              <a:rPr sz="2250" b="0">
                <a:solidFill>
                  <a:srgbClr val="243D34"/>
                </a:solidFill>
                <a:latin typeface="Helvetica Neue"/>
                <a:ea typeface="Helvetica Neue"/>
                <a:cs typeface="Helvetica Neue"/>
              </a:rPr>
              <a:t>Real Nebius runtime</a:t>
            </a:r>
          </a:p>
          <a:p xmlns:a="http://schemas.openxmlformats.org/drawingml/2006/main">
            <a:pPr>
              <a:defRPr sz="2250" b="0">
                <a:solidFill>
                  <a:srgbClr val="243D34"/>
                </a:solidFill>
                <a:latin typeface="Helvetica Neue"/>
                <a:ea typeface="Helvetica Neue"/>
                <a:cs typeface="Helvetica Neue"/>
              </a:defRPr>
            </a:pPr>
            <a:r>
              <a:rPr sz="2250" b="0">
                <a:solidFill>
                  <a:srgbClr val="243D34"/>
                </a:solidFill>
                <a:latin typeface="Helvetica Neue"/>
                <a:ea typeface="Helvetica Neue"/>
                <a:cs typeface="Helvetica Neue"/>
              </a:rPr>
              <a:t>Two-stage synthetic review</a:t>
            </a:r>
          </a:p>
          <a:p xmlns:a="http://schemas.openxmlformats.org/drawingml/2006/main">
            <a:pPr>
              <a:defRPr sz="2250" b="0">
                <a:solidFill>
                  <a:srgbClr val="243D34"/>
                </a:solidFill>
                <a:latin typeface="Helvetica Neue"/>
                <a:ea typeface="Helvetica Neue"/>
                <a:cs typeface="Helvetica Neue"/>
              </a:defRPr>
            </a:pPr>
            <a:r>
              <a:rPr sz="2250" b="0">
                <a:solidFill>
                  <a:srgbClr val="243D34"/>
                </a:solidFill>
                <a:latin typeface="Helvetica Neue"/>
                <a:ea typeface="Helvetica Neue"/>
                <a:cs typeface="Helvetica Neue"/>
              </a:rPr>
              <a:t>Validated computed references</a:t>
            </a:r>
          </a:p>
        </p:txBody>
      </p:sp>
      <p:sp>
        <p:nvSpPr>
          <p:cNvPr id="4" name="">
            <a:extLst xmlns:a="http://schemas.openxmlformats.org/drawingml/2006/main">
              <a:ext uri="{FF2B5EF4-FFF2-40B4-BE49-F238E27FC236}">
                <a16:creationId xmlns:a16="http://schemas.microsoft.com/office/drawing/2014/main" id="{DE5F09AF-558F-4D61-A64D-88D16573FF9C}"/>
              </a:ext>
            </a:extLst>
          </p:cNvPr>
          <p:cNvSpPr>
            <a:spLocks xmlns:a="http://schemas.openxmlformats.org/drawingml/2006/main" noGrp="1"/>
          </p:cNvSpPr>
          <p:nvPr/>
        </p:nvSpPr>
        <p:spPr>
          <a:xfrm xmlns:a="http://schemas.openxmlformats.org/drawingml/2006/main">
            <a:off x="6667500" y="16668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43D34"/>
                </a:solidFill>
                <a:latin typeface="Helvetica Neue"/>
                <a:ea typeface="Helvetica Neue"/>
                <a:cs typeface="Helvetica Neue"/>
              </a:defRPr>
            </a:defPPr>
            <a:lvl1pPr>
              <a:defRPr sz="2700" b="1">
                <a:solidFill>
                  <a:srgbClr val="243D34"/>
                </a:solidFill>
                <a:latin typeface="Helvetica Neue"/>
                <a:ea typeface="Helvetica Neue"/>
                <a:cs typeface="Helvetica Neue"/>
              </a:defRPr>
            </a:lvl1pPr>
            <a:lvl2pPr>
              <a:defRPr sz="2700" b="1">
                <a:solidFill>
                  <a:srgbClr val="243D34"/>
                </a:solidFill>
                <a:latin typeface="Helvetica Neue"/>
                <a:ea typeface="Helvetica Neue"/>
                <a:cs typeface="Helvetica Neue"/>
              </a:defRPr>
            </a:lvl2pPr>
            <a:lvl3pPr>
              <a:defRPr sz="2700" b="1">
                <a:solidFill>
                  <a:srgbClr val="243D34"/>
                </a:solidFill>
                <a:latin typeface="Helvetica Neue"/>
                <a:ea typeface="Helvetica Neue"/>
                <a:cs typeface="Helvetica Neue"/>
              </a:defRPr>
            </a:lvl3pPr>
            <a:lvl4pPr>
              <a:defRPr sz="2700" b="1">
                <a:solidFill>
                  <a:srgbClr val="243D34"/>
                </a:solidFill>
                <a:latin typeface="Helvetica Neue"/>
                <a:ea typeface="Helvetica Neue"/>
                <a:cs typeface="Helvetica Neue"/>
              </a:defRPr>
            </a:lvl4pPr>
            <a:lvl5pPr>
              <a:defRPr sz="2700" b="1">
                <a:solidFill>
                  <a:srgbClr val="243D34"/>
                </a:solidFill>
                <a:latin typeface="Helvetica Neue"/>
                <a:ea typeface="Helvetica Neue"/>
                <a:cs typeface="Helvetica Neue"/>
              </a:defRPr>
            </a:lvl5pPr>
            <a:lvl6pPr>
              <a:defRPr sz="2700" b="1">
                <a:solidFill>
                  <a:srgbClr val="243D34"/>
                </a:solidFill>
                <a:latin typeface="Helvetica Neue"/>
                <a:ea typeface="Helvetica Neue"/>
                <a:cs typeface="Helvetica Neue"/>
              </a:defRPr>
            </a:lvl6pPr>
            <a:lvl7pPr>
              <a:defRPr sz="2700" b="1">
                <a:solidFill>
                  <a:srgbClr val="243D34"/>
                </a:solidFill>
                <a:latin typeface="Helvetica Neue"/>
                <a:ea typeface="Helvetica Neue"/>
                <a:cs typeface="Helvetica Neue"/>
              </a:defRPr>
            </a:lvl7pPr>
            <a:lvl8pPr>
              <a:defRPr sz="2700" b="1">
                <a:solidFill>
                  <a:srgbClr val="243D34"/>
                </a:solidFill>
                <a:latin typeface="Helvetica Neue"/>
                <a:ea typeface="Helvetica Neue"/>
                <a:cs typeface="Helvetica Neue"/>
              </a:defRPr>
            </a:lvl8pPr>
            <a:lvl9pPr>
              <a:defRPr sz="2700" b="1">
                <a:solidFill>
                  <a:srgbClr val="243D34"/>
                </a:solidFill>
                <a:latin typeface="Helvetica Neue"/>
                <a:ea typeface="Helvetica Neue"/>
                <a:cs typeface="Helvetica Neue"/>
              </a:defRPr>
            </a:lvl9pPr>
          </a:lstStyle>
          <a:p xmlns:a="http://schemas.openxmlformats.org/drawingml/2006/main">
            <a:pPr>
              <a:defRPr sz="2700" b="1">
                <a:solidFill>
                  <a:srgbClr val="243D34"/>
                </a:solidFill>
                <a:latin typeface="Helvetica Neue"/>
                <a:ea typeface="Helvetica Neue"/>
                <a:cs typeface="Helvetica Neue"/>
              </a:defRPr>
            </a:pPr>
            <a:r>
              <a:rPr sz="2700" b="1">
                <a:solidFill>
                  <a:srgbClr val="243D34"/>
                </a:solidFill>
                <a:latin typeface="Helvetica Neue"/>
                <a:ea typeface="Helvetica Neue"/>
                <a:cs typeface="Helvetica Neue"/>
              </a:rPr>
              <a:t>Still unresolved</a:t>
            </a:r>
          </a:p>
        </p:txBody>
      </p:sp>
      <p:sp>
        <p:nvSpPr>
          <p:cNvPr id="5" name="">
            <a:extLst xmlns:a="http://schemas.openxmlformats.org/drawingml/2006/main">
              <a:ext uri="{FF2B5EF4-FFF2-40B4-BE49-F238E27FC236}">
                <a16:creationId xmlns:a16="http://schemas.microsoft.com/office/drawing/2014/main" id="{D0F759F6-A6FE-493D-B790-15932F13CD1A}"/>
              </a:ext>
            </a:extLst>
          </p:cNvPr>
          <p:cNvSpPr>
            <a:spLocks xmlns:a="http://schemas.openxmlformats.org/drawingml/2006/main" noGrp="1"/>
          </p:cNvSpPr>
          <p:nvPr/>
        </p:nvSpPr>
        <p:spPr>
          <a:xfrm xmlns:a="http://schemas.openxmlformats.org/drawingml/2006/main">
            <a:off x="6667500" y="2571750"/>
            <a:ext cx="4905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D34"/>
                </a:solidFill>
                <a:latin typeface="Helvetica Neue"/>
                <a:ea typeface="Helvetica Neue"/>
                <a:cs typeface="Helvetica Neue"/>
              </a:defRPr>
            </a:defPPr>
            <a:lvl1pPr>
              <a:defRPr sz="2250" b="0">
                <a:solidFill>
                  <a:srgbClr val="243D34"/>
                </a:solidFill>
                <a:latin typeface="Helvetica Neue"/>
                <a:ea typeface="Helvetica Neue"/>
                <a:cs typeface="Helvetica Neue"/>
              </a:defRPr>
            </a:lvl1pPr>
            <a:lvl2pPr>
              <a:defRPr sz="2250" b="0">
                <a:solidFill>
                  <a:srgbClr val="243D34"/>
                </a:solidFill>
                <a:latin typeface="Helvetica Neue"/>
                <a:ea typeface="Helvetica Neue"/>
                <a:cs typeface="Helvetica Neue"/>
              </a:defRPr>
            </a:lvl2pPr>
            <a:lvl3pPr>
              <a:defRPr sz="2250" b="0">
                <a:solidFill>
                  <a:srgbClr val="243D34"/>
                </a:solidFill>
                <a:latin typeface="Helvetica Neue"/>
                <a:ea typeface="Helvetica Neue"/>
                <a:cs typeface="Helvetica Neue"/>
              </a:defRPr>
            </a:lvl3pPr>
            <a:lvl4pPr>
              <a:defRPr sz="2250" b="0">
                <a:solidFill>
                  <a:srgbClr val="243D34"/>
                </a:solidFill>
                <a:latin typeface="Helvetica Neue"/>
                <a:ea typeface="Helvetica Neue"/>
                <a:cs typeface="Helvetica Neue"/>
              </a:defRPr>
            </a:lvl4pPr>
            <a:lvl5pPr>
              <a:defRPr sz="2250" b="0">
                <a:solidFill>
                  <a:srgbClr val="243D34"/>
                </a:solidFill>
                <a:latin typeface="Helvetica Neue"/>
                <a:ea typeface="Helvetica Neue"/>
                <a:cs typeface="Helvetica Neue"/>
              </a:defRPr>
            </a:lvl5pPr>
            <a:lvl6pPr>
              <a:defRPr sz="2250" b="0">
                <a:solidFill>
                  <a:srgbClr val="243D34"/>
                </a:solidFill>
                <a:latin typeface="Helvetica Neue"/>
                <a:ea typeface="Helvetica Neue"/>
                <a:cs typeface="Helvetica Neue"/>
              </a:defRPr>
            </a:lvl6pPr>
            <a:lvl7pPr>
              <a:defRPr sz="2250" b="0">
                <a:solidFill>
                  <a:srgbClr val="243D34"/>
                </a:solidFill>
                <a:latin typeface="Helvetica Neue"/>
                <a:ea typeface="Helvetica Neue"/>
                <a:cs typeface="Helvetica Neue"/>
              </a:defRPr>
            </a:lvl7pPr>
            <a:lvl8pPr>
              <a:defRPr sz="2250" b="0">
                <a:solidFill>
                  <a:srgbClr val="243D34"/>
                </a:solidFill>
                <a:latin typeface="Helvetica Neue"/>
                <a:ea typeface="Helvetica Neue"/>
                <a:cs typeface="Helvetica Neue"/>
              </a:defRPr>
            </a:lvl8pPr>
            <a:lvl9pPr>
              <a:defRPr sz="2250" b="0">
                <a:solidFill>
                  <a:srgbClr val="243D34"/>
                </a:solidFill>
                <a:latin typeface="Helvetica Neue"/>
                <a:ea typeface="Helvetica Neue"/>
                <a:cs typeface="Helvetica Neue"/>
              </a:defRPr>
            </a:lvl9pPr>
          </a:lstStyle>
          <a:p xmlns:a="http://schemas.openxmlformats.org/drawingml/2006/main">
            <a:pPr>
              <a:defRPr sz="2250" b="0">
                <a:solidFill>
                  <a:srgbClr val="243D34"/>
                </a:solidFill>
                <a:latin typeface="Helvetica Neue"/>
                <a:ea typeface="Helvetica Neue"/>
                <a:cs typeface="Helvetica Neue"/>
              </a:defRPr>
            </a:pPr>
            <a:r>
              <a:rPr sz="2250" b="0">
                <a:solidFill>
                  <a:srgbClr val="243D34"/>
                </a:solidFill>
                <a:latin typeface="Helvetica Neue"/>
                <a:ea typeface="Helvetica Neue"/>
                <a:cs typeface="Helvetica Neue"/>
              </a:rPr>
              <a:t>Reliable live browser review</a:t>
            </a:r>
          </a:p>
          <a:p xmlns:a="http://schemas.openxmlformats.org/drawingml/2006/main">
            <a:pPr>
              <a:defRPr sz="2250" b="0">
                <a:solidFill>
                  <a:srgbClr val="243D34"/>
                </a:solidFill>
                <a:latin typeface="Helvetica Neue"/>
                <a:ea typeface="Helvetica Neue"/>
                <a:cs typeface="Helvetica Neue"/>
              </a:defRPr>
            </a:pPr>
            <a:r>
              <a:rPr sz="2250" b="0">
                <a:solidFill>
                  <a:srgbClr val="243D34"/>
                </a:solidFill>
                <a:latin typeface="Helvetica Neue"/>
                <a:ea typeface="Helvetica Neue"/>
                <a:cs typeface="Helvetica Neue"/>
              </a:rPr>
              <a:t>Public judge model access</a:t>
            </a:r>
          </a:p>
          <a:p xmlns:a="http://schemas.openxmlformats.org/drawingml/2006/main">
            <a:pPr>
              <a:defRPr sz="2250" b="0">
                <a:solidFill>
                  <a:srgbClr val="243D34"/>
                </a:solidFill>
                <a:latin typeface="Helvetica Neue"/>
                <a:ea typeface="Helvetica Neue"/>
                <a:cs typeface="Helvetica Neue"/>
              </a:defRPr>
            </a:pPr>
            <a:r>
              <a:rPr sz="2250" b="0">
                <a:solidFill>
                  <a:srgbClr val="243D34"/>
                </a:solidFill>
                <a:latin typeface="Helvetica Neue"/>
                <a:ea typeface="Helvetica Neue"/>
                <a:cs typeface="Helvetica Neue"/>
              </a:rPr>
              <a:t>Measured AI usefulness</a:t>
            </a:r>
          </a:p>
          <a:p xmlns:a="http://schemas.openxmlformats.org/drawingml/2006/main">
            <a:pPr>
              <a:defRPr sz="2250" b="0">
                <a:solidFill>
                  <a:srgbClr val="243D34"/>
                </a:solidFill>
                <a:latin typeface="Helvetica Neue"/>
                <a:ea typeface="Helvetica Neue"/>
                <a:cs typeface="Helvetica Neue"/>
              </a:defRPr>
            </a:pPr>
            <a:r>
              <a:rPr sz="2250" b="0">
                <a:solidFill>
                  <a:srgbClr val="243D34"/>
                </a:solidFill>
                <a:latin typeface="Helvetica Neue"/>
                <a:ea typeface="Helvetica Neue"/>
                <a:cs typeface="Helvetica Neue"/>
              </a:rPr>
              <a:t>Domain validation</a:t>
            </a:r>
          </a:p>
        </p:txBody>
      </p:sp>
      <p:sp>
        <p:nvSpPr>
          <p:cNvPr id="6" name="">
            <a:extLst xmlns:a="http://schemas.openxmlformats.org/drawingml/2006/main">
              <a:ext uri="{FF2B5EF4-FFF2-40B4-BE49-F238E27FC236}">
                <a16:creationId xmlns:a16="http://schemas.microsoft.com/office/drawing/2014/main" id="{C49DA86D-0D18-4EBA-885D-8E5E45D1E95E}"/>
              </a:ext>
            </a:extLst>
          </p:cNvPr>
          <p:cNvSpPr>
            <a:spLocks xmlns:a="http://schemas.openxmlformats.org/drawingml/2006/main" noGrp="1"/>
          </p:cNvSpPr>
          <p:nvPr/>
        </p:nvSpPr>
        <p:spPr>
          <a:xfrm xmlns:a="http://schemas.openxmlformats.org/drawingml/2006/main">
            <a:off x="609600" y="57245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35B"/>
                </a:solidFill>
                <a:latin typeface="Helvetica Neue"/>
                <a:ea typeface="Helvetica Neue"/>
                <a:cs typeface="Helvetica Neue"/>
              </a:defRPr>
            </a:defPPr>
            <a:lvl1pPr>
              <a:defRPr sz="2100" b="0">
                <a:solidFill>
                  <a:srgbClr val="52635B"/>
                </a:solidFill>
                <a:latin typeface="Helvetica Neue"/>
                <a:ea typeface="Helvetica Neue"/>
                <a:cs typeface="Helvetica Neue"/>
              </a:defRPr>
            </a:lvl1pPr>
            <a:lvl2pPr>
              <a:defRPr sz="2100" b="0">
                <a:solidFill>
                  <a:srgbClr val="52635B"/>
                </a:solidFill>
                <a:latin typeface="Helvetica Neue"/>
                <a:ea typeface="Helvetica Neue"/>
                <a:cs typeface="Helvetica Neue"/>
              </a:defRPr>
            </a:lvl2pPr>
            <a:lvl3pPr>
              <a:defRPr sz="2100" b="0">
                <a:solidFill>
                  <a:srgbClr val="52635B"/>
                </a:solidFill>
                <a:latin typeface="Helvetica Neue"/>
                <a:ea typeface="Helvetica Neue"/>
                <a:cs typeface="Helvetica Neue"/>
              </a:defRPr>
            </a:lvl3pPr>
            <a:lvl4pPr>
              <a:defRPr sz="2100" b="0">
                <a:solidFill>
                  <a:srgbClr val="52635B"/>
                </a:solidFill>
                <a:latin typeface="Helvetica Neue"/>
                <a:ea typeface="Helvetica Neue"/>
                <a:cs typeface="Helvetica Neue"/>
              </a:defRPr>
            </a:lvl4pPr>
            <a:lvl5pPr>
              <a:defRPr sz="2100" b="0">
                <a:solidFill>
                  <a:srgbClr val="52635B"/>
                </a:solidFill>
                <a:latin typeface="Helvetica Neue"/>
                <a:ea typeface="Helvetica Neue"/>
                <a:cs typeface="Helvetica Neue"/>
              </a:defRPr>
            </a:lvl5pPr>
            <a:lvl6pPr>
              <a:defRPr sz="2100" b="0">
                <a:solidFill>
                  <a:srgbClr val="52635B"/>
                </a:solidFill>
                <a:latin typeface="Helvetica Neue"/>
                <a:ea typeface="Helvetica Neue"/>
                <a:cs typeface="Helvetica Neue"/>
              </a:defRPr>
            </a:lvl6pPr>
            <a:lvl7pPr>
              <a:defRPr sz="2100" b="0">
                <a:solidFill>
                  <a:srgbClr val="52635B"/>
                </a:solidFill>
                <a:latin typeface="Helvetica Neue"/>
                <a:ea typeface="Helvetica Neue"/>
                <a:cs typeface="Helvetica Neue"/>
              </a:defRPr>
            </a:lvl7pPr>
            <a:lvl8pPr>
              <a:defRPr sz="2100" b="0">
                <a:solidFill>
                  <a:srgbClr val="52635B"/>
                </a:solidFill>
                <a:latin typeface="Helvetica Neue"/>
                <a:ea typeface="Helvetica Neue"/>
                <a:cs typeface="Helvetica Neue"/>
              </a:defRPr>
            </a:lvl8pPr>
            <a:lvl9pPr>
              <a:defRPr sz="2100" b="0">
                <a:solidFill>
                  <a:srgbClr val="52635B"/>
                </a:solidFill>
                <a:latin typeface="Helvetica Neue"/>
                <a:ea typeface="Helvetica Neue"/>
                <a:cs typeface="Helvetica Neue"/>
              </a:defRPr>
            </a:lvl9pPr>
          </a:lstStyle>
          <a:p xmlns:a="http://schemas.openxmlformats.org/drawingml/2006/main">
            <a:pPr>
              <a:defRPr sz="2100" b="0">
                <a:solidFill>
                  <a:srgbClr val="52635B"/>
                </a:solidFill>
                <a:latin typeface="Helvetica Neue"/>
                <a:ea typeface="Helvetica Neue"/>
                <a:cs typeface="Helvetica Neue"/>
              </a:defRPr>
            </a:pPr>
            <a:r>
              <a:rPr sz="2100" b="0">
                <a:solidFill>
                  <a:srgbClr val="52635B"/>
                </a:solidFill>
                <a:latin typeface="Helvetica Neue"/>
                <a:ea typeface="Helvetica Neue"/>
                <a:cs typeface="Helvetica Neue"/>
              </a:rPr>
              <a:t>The app rejected the later browser response and preserved local findings.</a:t>
            </a:r>
          </a:p>
        </p:txBody>
      </p:sp>
    </p:spTree>
    <p:extLst>
      <p:ext uri="{BB962C8B-B14F-4D97-AF65-F5344CB8AC3E}">
        <p14:creationId xmlns:p14="http://schemas.microsoft.com/office/powerpoint/2010/main" val="3845743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2026-10-30T02:20:35.1210000Z</dcterms:created>
  <dcterms:modified xsi:type="dcterms:W3CDTF">2026-10-30T02:20:35.1210000Z</dcterms:modified>
</coreProperties>
</file>